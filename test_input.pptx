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28"/>
  </p:notesMasterIdLst>
  <p:sldIdLst>
    <p:sldId id="256" r:id="rId2"/>
    <p:sldId id="285" r:id="rId3"/>
    <p:sldId id="286" r:id="rId4"/>
    <p:sldId id="287" r:id="rId5"/>
    <p:sldId id="257" r:id="rId6"/>
    <p:sldId id="258" r:id="rId7"/>
    <p:sldId id="292" r:id="rId8"/>
    <p:sldId id="293" r:id="rId9"/>
    <p:sldId id="284" r:id="rId10"/>
    <p:sldId id="260" r:id="rId11"/>
    <p:sldId id="294" r:id="rId12"/>
    <p:sldId id="262" r:id="rId13"/>
    <p:sldId id="280" r:id="rId14"/>
    <p:sldId id="282" r:id="rId15"/>
    <p:sldId id="288" r:id="rId16"/>
    <p:sldId id="264" r:id="rId17"/>
    <p:sldId id="289" r:id="rId18"/>
    <p:sldId id="267" r:id="rId19"/>
    <p:sldId id="281" r:id="rId20"/>
    <p:sldId id="270" r:id="rId21"/>
    <p:sldId id="275" r:id="rId22"/>
    <p:sldId id="283" r:id="rId23"/>
    <p:sldId id="290" r:id="rId24"/>
    <p:sldId id="291" r:id="rId25"/>
    <p:sldId id="295" r:id="rId26"/>
    <p:sldId id="273" r:id="rId27"/>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83" d="100"/>
          <a:sy n="83" d="100"/>
        </p:scale>
        <p:origin x="2484" y="7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microsoft.com/office/2016/11/relationships/changesInfo" Target="changesInfos/changesInfo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viewProps" Target="view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i Gupta" userId="093a9920a41221cd" providerId="LiveId" clId="{93A7E9B0-BE1D-3C9E-8B65-E48AF7EB84FD}"/>
    <pc:docChg chg="addSld modSld">
      <pc:chgData name="Shashi Gupta" userId="093a9920a41221cd" providerId="LiveId" clId="{93A7E9B0-BE1D-3C9E-8B65-E48AF7EB84FD}" dt="2026-09-08T05:53:30.554" v="753" actId="12"/>
      <pc:docMkLst>
        <pc:docMk/>
      </pc:docMkLst>
      <pc:sldChg chg="modSp mod">
        <pc:chgData name="Shashi Gupta" userId="093a9920a41221cd" providerId="LiveId" clId="{93A7E9B0-BE1D-3C9E-8B65-E48AF7EB84FD}" dt="2026-09-08T05:53:19.532" v="752" actId="12"/>
        <pc:sldMkLst>
          <pc:docMk/>
          <pc:sldMk cId="0" sldId="290"/>
        </pc:sldMkLst>
        <pc:spChg chg="mod">
          <ac:chgData name="Shashi Gupta" userId="093a9920a41221cd" providerId="LiveId" clId="{93A7E9B0-BE1D-3C9E-8B65-E48AF7EB84FD}" dt="2026-09-08T05:53:19.532" v="752" actId="12"/>
          <ac:spMkLst>
            <pc:docMk/>
            <pc:sldMk cId="0" sldId="290"/>
            <ac:spMk id="3" creationId="{00000000-0000-0000-0000-000000000000}"/>
          </ac:spMkLst>
        </pc:spChg>
      </pc:sldChg>
      <pc:sldChg chg="addSp delSp modSp mod">
        <pc:chgData name="Shashi Gupta" userId="093a9920a41221cd" providerId="LiveId" clId="{93A7E9B0-BE1D-3C9E-8B65-E48AF7EB84FD}" dt="2026-09-08T05:53:00.124" v="751" actId="1076"/>
        <pc:sldMkLst>
          <pc:docMk/>
          <pc:sldMk cId="0" sldId="291"/>
        </pc:sldMkLst>
        <pc:spChg chg="del mod">
          <ac:chgData name="Shashi Gupta" userId="093a9920a41221cd" providerId="LiveId" clId="{93A7E9B0-BE1D-3C9E-8B65-E48AF7EB84FD}" dt="2026-09-08T05:41:25.452" v="524" actId="478"/>
          <ac:spMkLst>
            <pc:docMk/>
            <pc:sldMk cId="0" sldId="291"/>
            <ac:spMk id="2" creationId="{00000000-0000-0000-0000-000000000000}"/>
          </ac:spMkLst>
        </pc:spChg>
        <pc:spChg chg="add mod">
          <ac:chgData name="Shashi Gupta" userId="093a9920a41221cd" providerId="LiveId" clId="{93A7E9B0-BE1D-3C9E-8B65-E48AF7EB84FD}" dt="2026-09-08T05:43:56.623" v="539" actId="20577"/>
          <ac:spMkLst>
            <pc:docMk/>
            <pc:sldMk cId="0" sldId="291"/>
            <ac:spMk id="4" creationId="{8C1F8A94-28ED-BE63-01F9-792F810E96C8}"/>
          </ac:spMkLst>
        </pc:spChg>
        <pc:spChg chg="add mod">
          <ac:chgData name="Shashi Gupta" userId="093a9920a41221cd" providerId="LiveId" clId="{93A7E9B0-BE1D-3C9E-8B65-E48AF7EB84FD}" dt="2026-09-08T05:53:00.124" v="751" actId="1076"/>
          <ac:spMkLst>
            <pc:docMk/>
            <pc:sldMk cId="0" sldId="291"/>
            <ac:spMk id="6" creationId="{E29BB244-E304-73EC-2601-0F9E51B53D18}"/>
          </ac:spMkLst>
        </pc:spChg>
      </pc:sldChg>
      <pc:sldChg chg="addSp modSp new mod">
        <pc:chgData name="Shashi Gupta" userId="093a9920a41221cd" providerId="LiveId" clId="{93A7E9B0-BE1D-3C9E-8B65-E48AF7EB84FD}" dt="2026-09-08T05:53:30.554" v="753" actId="12"/>
        <pc:sldMkLst>
          <pc:docMk/>
          <pc:sldMk cId="1302587810" sldId="295"/>
        </pc:sldMkLst>
        <pc:spChg chg="add mod">
          <ac:chgData name="Shashi Gupta" userId="093a9920a41221cd" providerId="LiveId" clId="{93A7E9B0-BE1D-3C9E-8B65-E48AF7EB84FD}" dt="2026-09-08T05:53:30.554" v="753" actId="12"/>
          <ac:spMkLst>
            <pc:docMk/>
            <pc:sldMk cId="1302587810" sldId="295"/>
            <ac:spMk id="3" creationId="{9DBE94DB-31CA-4FB8-CFB5-2905D61F5E31}"/>
          </ac:spMkLst>
        </pc:spChg>
      </pc:sldChg>
    </pc:docChg>
  </pc:docChgLst>
  <pc:docChgLst>
    <pc:chgData name="Shashi Gupta" userId="093a9920a41221cd" providerId="LiveId" clId="{172AD355-A9E8-45A5-B128-5ED58C69C757}"/>
    <pc:docChg chg="modSld">
      <pc:chgData name="Shashi Gupta" userId="093a9920a41221cd" providerId="LiveId" clId="{172AD355-A9E8-45A5-B128-5ED58C69C757}" dt="2026-09-01T19:46:14.443" v="62" actId="14100"/>
      <pc:docMkLst>
        <pc:docMk/>
      </pc:docMkLst>
      <pc:sldChg chg="modSp mod">
        <pc:chgData name="Shashi Gupta" userId="093a9920a41221cd" providerId="LiveId" clId="{172AD355-A9E8-45A5-B128-5ED58C69C757}" dt="2026-09-01T19:40:14.643" v="3" actId="14100"/>
        <pc:sldMkLst>
          <pc:docMk/>
          <pc:sldMk cId="0" sldId="256"/>
        </pc:sldMkLst>
        <pc:spChg chg="mod">
          <ac:chgData name="Shashi Gupta" userId="093a9920a41221cd" providerId="LiveId" clId="{172AD355-A9E8-45A5-B128-5ED58C69C757}" dt="2026-09-01T19:40:14.643" v="3" actId="14100"/>
          <ac:spMkLst>
            <pc:docMk/>
            <pc:sldMk cId="0" sldId="256"/>
            <ac:spMk id="4" creationId="{00000000-0000-0000-0000-000000000000}"/>
          </ac:spMkLst>
        </pc:spChg>
      </pc:sldChg>
      <pc:sldChg chg="modSp mod">
        <pc:chgData name="Shashi Gupta" userId="093a9920a41221cd" providerId="LiveId" clId="{172AD355-A9E8-45A5-B128-5ED58C69C757}" dt="2026-09-01T19:40:59.883" v="11" actId="14100"/>
        <pc:sldMkLst>
          <pc:docMk/>
          <pc:sldMk cId="0" sldId="257"/>
        </pc:sldMkLst>
        <pc:spChg chg="mod">
          <ac:chgData name="Shashi Gupta" userId="093a9920a41221cd" providerId="LiveId" clId="{172AD355-A9E8-45A5-B128-5ED58C69C757}" dt="2026-09-01T19:40:59.883" v="11" actId="14100"/>
          <ac:spMkLst>
            <pc:docMk/>
            <pc:sldMk cId="0" sldId="257"/>
            <ac:spMk id="3" creationId="{00000000-0000-0000-0000-000000000000}"/>
          </ac:spMkLst>
        </pc:spChg>
      </pc:sldChg>
      <pc:sldChg chg="modSp mod">
        <pc:chgData name="Shashi Gupta" userId="093a9920a41221cd" providerId="LiveId" clId="{172AD355-A9E8-45A5-B128-5ED58C69C757}" dt="2026-09-01T19:41:43.870" v="17" actId="14100"/>
        <pc:sldMkLst>
          <pc:docMk/>
          <pc:sldMk cId="0" sldId="258"/>
        </pc:sldMkLst>
        <pc:spChg chg="mod">
          <ac:chgData name="Shashi Gupta" userId="093a9920a41221cd" providerId="LiveId" clId="{172AD355-A9E8-45A5-B128-5ED58C69C757}" dt="2026-09-01T19:41:23.782" v="14" actId="14100"/>
          <ac:spMkLst>
            <pc:docMk/>
            <pc:sldMk cId="0" sldId="258"/>
            <ac:spMk id="2" creationId="{00000000-0000-0000-0000-000000000000}"/>
          </ac:spMkLst>
        </pc:spChg>
        <pc:spChg chg="mod">
          <ac:chgData name="Shashi Gupta" userId="093a9920a41221cd" providerId="LiveId" clId="{172AD355-A9E8-45A5-B128-5ED58C69C757}" dt="2026-09-01T19:41:43.870" v="17" actId="14100"/>
          <ac:spMkLst>
            <pc:docMk/>
            <pc:sldMk cId="0" sldId="258"/>
            <ac:spMk id="3" creationId="{00000000-0000-0000-0000-000000000000}"/>
          </ac:spMkLst>
        </pc:spChg>
      </pc:sldChg>
      <pc:sldChg chg="modSp mod">
        <pc:chgData name="Shashi Gupta" userId="093a9920a41221cd" providerId="LiveId" clId="{172AD355-A9E8-45A5-B128-5ED58C69C757}" dt="2026-09-01T19:42:30.585" v="25" actId="14100"/>
        <pc:sldMkLst>
          <pc:docMk/>
          <pc:sldMk cId="0" sldId="260"/>
        </pc:sldMkLst>
        <pc:spChg chg="mod">
          <ac:chgData name="Shashi Gupta" userId="093a9920a41221cd" providerId="LiveId" clId="{172AD355-A9E8-45A5-B128-5ED58C69C757}" dt="2026-09-01T19:42:30.585" v="25" actId="14100"/>
          <ac:spMkLst>
            <pc:docMk/>
            <pc:sldMk cId="0" sldId="260"/>
            <ac:spMk id="2" creationId="{00000000-0000-0000-0000-000000000000}"/>
          </ac:spMkLst>
        </pc:spChg>
      </pc:sldChg>
      <pc:sldChg chg="modSp mod">
        <pc:chgData name="Shashi Gupta" userId="093a9920a41221cd" providerId="LiveId" clId="{172AD355-A9E8-45A5-B128-5ED58C69C757}" dt="2026-09-01T19:43:01.155" v="31" actId="14100"/>
        <pc:sldMkLst>
          <pc:docMk/>
          <pc:sldMk cId="0" sldId="262"/>
        </pc:sldMkLst>
        <pc:spChg chg="mod">
          <ac:chgData name="Shashi Gupta" userId="093a9920a41221cd" providerId="LiveId" clId="{172AD355-A9E8-45A5-B128-5ED58C69C757}" dt="2026-09-01T19:43:01.155" v="31" actId="14100"/>
          <ac:spMkLst>
            <pc:docMk/>
            <pc:sldMk cId="0" sldId="262"/>
            <ac:spMk id="2" creationId="{00000000-0000-0000-0000-000000000000}"/>
          </ac:spMkLst>
        </pc:spChg>
      </pc:sldChg>
      <pc:sldChg chg="modSp mod">
        <pc:chgData name="Shashi Gupta" userId="093a9920a41221cd" providerId="LiveId" clId="{172AD355-A9E8-45A5-B128-5ED58C69C757}" dt="2026-09-01T19:44:09.875" v="43" actId="14100"/>
        <pc:sldMkLst>
          <pc:docMk/>
          <pc:sldMk cId="0" sldId="264"/>
        </pc:sldMkLst>
        <pc:spChg chg="mod">
          <ac:chgData name="Shashi Gupta" userId="093a9920a41221cd" providerId="LiveId" clId="{172AD355-A9E8-45A5-B128-5ED58C69C757}" dt="2026-09-01T19:44:01.687" v="41" actId="14100"/>
          <ac:spMkLst>
            <pc:docMk/>
            <pc:sldMk cId="0" sldId="264"/>
            <ac:spMk id="2" creationId="{00000000-0000-0000-0000-000000000000}"/>
          </ac:spMkLst>
        </pc:spChg>
        <pc:spChg chg="mod">
          <ac:chgData name="Shashi Gupta" userId="093a9920a41221cd" providerId="LiveId" clId="{172AD355-A9E8-45A5-B128-5ED58C69C757}" dt="2026-09-01T19:44:09.875" v="43" actId="14100"/>
          <ac:spMkLst>
            <pc:docMk/>
            <pc:sldMk cId="0" sldId="264"/>
            <ac:spMk id="3" creationId="{00000000-0000-0000-0000-000000000000}"/>
          </ac:spMkLst>
        </pc:spChg>
      </pc:sldChg>
      <pc:sldChg chg="modSp mod">
        <pc:chgData name="Shashi Gupta" userId="093a9920a41221cd" providerId="LiveId" clId="{172AD355-A9E8-45A5-B128-5ED58C69C757}" dt="2026-09-01T19:44:31.591" v="47" actId="14100"/>
        <pc:sldMkLst>
          <pc:docMk/>
          <pc:sldMk cId="0" sldId="267"/>
        </pc:sldMkLst>
        <pc:spChg chg="mod">
          <ac:chgData name="Shashi Gupta" userId="093a9920a41221cd" providerId="LiveId" clId="{172AD355-A9E8-45A5-B128-5ED58C69C757}" dt="2026-09-01T19:44:31.591" v="47" actId="14100"/>
          <ac:spMkLst>
            <pc:docMk/>
            <pc:sldMk cId="0" sldId="267"/>
            <ac:spMk id="2" creationId="{00000000-0000-0000-0000-000000000000}"/>
          </ac:spMkLst>
        </pc:spChg>
      </pc:sldChg>
      <pc:sldChg chg="modSp mod">
        <pc:chgData name="Shashi Gupta" userId="093a9920a41221cd" providerId="LiveId" clId="{172AD355-A9E8-45A5-B128-5ED58C69C757}" dt="2026-09-01T19:45:26.658" v="53" actId="1076"/>
        <pc:sldMkLst>
          <pc:docMk/>
          <pc:sldMk cId="0" sldId="270"/>
        </pc:sldMkLst>
        <pc:spChg chg="mod">
          <ac:chgData name="Shashi Gupta" userId="093a9920a41221cd" providerId="LiveId" clId="{172AD355-A9E8-45A5-B128-5ED58C69C757}" dt="2026-09-01T19:45:26.658" v="53" actId="1076"/>
          <ac:spMkLst>
            <pc:docMk/>
            <pc:sldMk cId="0" sldId="270"/>
            <ac:spMk id="3" creationId="{00000000-0000-0000-0000-000000000000}"/>
          </ac:spMkLst>
        </pc:spChg>
      </pc:sldChg>
      <pc:sldChg chg="modSp mod">
        <pc:chgData name="Shashi Gupta" userId="093a9920a41221cd" providerId="LiveId" clId="{172AD355-A9E8-45A5-B128-5ED58C69C757}" dt="2026-09-01T19:45:39.110" v="55" actId="14100"/>
        <pc:sldMkLst>
          <pc:docMk/>
          <pc:sldMk cId="870548286" sldId="275"/>
        </pc:sldMkLst>
        <pc:spChg chg="mod">
          <ac:chgData name="Shashi Gupta" userId="093a9920a41221cd" providerId="LiveId" clId="{172AD355-A9E8-45A5-B128-5ED58C69C757}" dt="2026-09-01T19:45:39.110" v="55" actId="14100"/>
          <ac:spMkLst>
            <pc:docMk/>
            <pc:sldMk cId="870548286" sldId="275"/>
            <ac:spMk id="3" creationId="{89D8C4A7-E1B7-BCB2-D770-8ECCED454065}"/>
          </ac:spMkLst>
        </pc:spChg>
      </pc:sldChg>
      <pc:sldChg chg="modSp mod">
        <pc:chgData name="Shashi Gupta" userId="093a9920a41221cd" providerId="LiveId" clId="{172AD355-A9E8-45A5-B128-5ED58C69C757}" dt="2026-09-01T19:43:12.986" v="34" actId="14100"/>
        <pc:sldMkLst>
          <pc:docMk/>
          <pc:sldMk cId="3405032468" sldId="280"/>
        </pc:sldMkLst>
        <pc:spChg chg="mod">
          <ac:chgData name="Shashi Gupta" userId="093a9920a41221cd" providerId="LiveId" clId="{172AD355-A9E8-45A5-B128-5ED58C69C757}" dt="2026-09-01T19:43:12.986" v="34" actId="14100"/>
          <ac:spMkLst>
            <pc:docMk/>
            <pc:sldMk cId="3405032468" sldId="280"/>
            <ac:spMk id="3" creationId="{6A422DFD-C01B-BD1A-FA0E-D5B0CB8420B9}"/>
          </ac:spMkLst>
        </pc:spChg>
      </pc:sldChg>
      <pc:sldChg chg="modSp mod">
        <pc:chgData name="Shashi Gupta" userId="093a9920a41221cd" providerId="LiveId" clId="{172AD355-A9E8-45A5-B128-5ED58C69C757}" dt="2026-09-01T19:44:43.140" v="49" actId="14100"/>
        <pc:sldMkLst>
          <pc:docMk/>
          <pc:sldMk cId="610688593" sldId="281"/>
        </pc:sldMkLst>
        <pc:graphicFrameChg chg="mod modGraphic">
          <ac:chgData name="Shashi Gupta" userId="093a9920a41221cd" providerId="LiveId" clId="{172AD355-A9E8-45A5-B128-5ED58C69C757}" dt="2026-09-01T19:44:43.140" v="49" actId="14100"/>
          <ac:graphicFrameMkLst>
            <pc:docMk/>
            <pc:sldMk cId="610688593" sldId="281"/>
            <ac:graphicFrameMk id="4" creationId="{6D564C1C-4DC2-CFC8-C0BC-329B36F65300}"/>
          </ac:graphicFrameMkLst>
        </pc:graphicFrameChg>
      </pc:sldChg>
      <pc:sldChg chg="modSp mod">
        <pc:chgData name="Shashi Gupta" userId="093a9920a41221cd" providerId="LiveId" clId="{172AD355-A9E8-45A5-B128-5ED58C69C757}" dt="2026-09-01T19:43:26.977" v="36" actId="14100"/>
        <pc:sldMkLst>
          <pc:docMk/>
          <pc:sldMk cId="2632925587" sldId="282"/>
        </pc:sldMkLst>
        <pc:spChg chg="mod">
          <ac:chgData name="Shashi Gupta" userId="093a9920a41221cd" providerId="LiveId" clId="{172AD355-A9E8-45A5-B128-5ED58C69C757}" dt="2026-09-01T19:43:26.977" v="36" actId="14100"/>
          <ac:spMkLst>
            <pc:docMk/>
            <pc:sldMk cId="2632925587" sldId="282"/>
            <ac:spMk id="5" creationId="{7B19CD92-8C66-2DE9-E664-AE05E467656D}"/>
          </ac:spMkLst>
        </pc:spChg>
      </pc:sldChg>
      <pc:sldChg chg="modSp mod">
        <pc:chgData name="Shashi Gupta" userId="093a9920a41221cd" providerId="LiveId" clId="{172AD355-A9E8-45A5-B128-5ED58C69C757}" dt="2026-09-01T19:45:47.898" v="57" actId="14100"/>
        <pc:sldMkLst>
          <pc:docMk/>
          <pc:sldMk cId="540768885" sldId="283"/>
        </pc:sldMkLst>
        <pc:spChg chg="mod">
          <ac:chgData name="Shashi Gupta" userId="093a9920a41221cd" providerId="LiveId" clId="{172AD355-A9E8-45A5-B128-5ED58C69C757}" dt="2026-09-01T19:45:47.898" v="57" actId="14100"/>
          <ac:spMkLst>
            <pc:docMk/>
            <pc:sldMk cId="540768885" sldId="283"/>
            <ac:spMk id="3" creationId="{A23218AF-EA80-3E48-315D-BABA012FD3D5}"/>
          </ac:spMkLst>
        </pc:spChg>
      </pc:sldChg>
      <pc:sldChg chg="modSp mod">
        <pc:chgData name="Shashi Gupta" userId="093a9920a41221cd" providerId="LiveId" clId="{172AD355-A9E8-45A5-B128-5ED58C69C757}" dt="2026-09-01T19:42:20.137" v="23" actId="14100"/>
        <pc:sldMkLst>
          <pc:docMk/>
          <pc:sldMk cId="1239891956" sldId="284"/>
        </pc:sldMkLst>
        <pc:spChg chg="mod">
          <ac:chgData name="Shashi Gupta" userId="093a9920a41221cd" providerId="LiveId" clId="{172AD355-A9E8-45A5-B128-5ED58C69C757}" dt="2026-09-01T19:42:20.137" v="23" actId="14100"/>
          <ac:spMkLst>
            <pc:docMk/>
            <pc:sldMk cId="1239891956" sldId="284"/>
            <ac:spMk id="2" creationId="{0CCF69CE-6C9F-4232-F4DE-77888372432C}"/>
          </ac:spMkLst>
        </pc:spChg>
      </pc:sldChg>
      <pc:sldChg chg="modSp mod">
        <pc:chgData name="Shashi Gupta" userId="093a9920a41221cd" providerId="LiveId" clId="{172AD355-A9E8-45A5-B128-5ED58C69C757}" dt="2026-09-01T19:40:25.166" v="5" actId="14100"/>
        <pc:sldMkLst>
          <pc:docMk/>
          <pc:sldMk cId="2553051000" sldId="285"/>
        </pc:sldMkLst>
        <pc:graphicFrameChg chg="mod modGraphic">
          <ac:chgData name="Shashi Gupta" userId="093a9920a41221cd" providerId="LiveId" clId="{172AD355-A9E8-45A5-B128-5ED58C69C757}" dt="2026-09-01T19:40:25.166" v="5" actId="14100"/>
          <ac:graphicFrameMkLst>
            <pc:docMk/>
            <pc:sldMk cId="2553051000" sldId="285"/>
            <ac:graphicFrameMk id="6" creationId="{C86ABE51-2298-1ADB-6887-5FAD38DFA587}"/>
          </ac:graphicFrameMkLst>
        </pc:graphicFrameChg>
      </pc:sldChg>
      <pc:sldChg chg="modSp mod">
        <pc:chgData name="Shashi Gupta" userId="093a9920a41221cd" providerId="LiveId" clId="{172AD355-A9E8-45A5-B128-5ED58C69C757}" dt="2026-09-01T19:40:37.834" v="7" actId="14100"/>
        <pc:sldMkLst>
          <pc:docMk/>
          <pc:sldMk cId="2462997194" sldId="286"/>
        </pc:sldMkLst>
        <pc:graphicFrameChg chg="mod modGraphic">
          <ac:chgData name="Shashi Gupta" userId="093a9920a41221cd" providerId="LiveId" clId="{172AD355-A9E8-45A5-B128-5ED58C69C757}" dt="2026-09-01T19:40:37.834" v="7" actId="14100"/>
          <ac:graphicFrameMkLst>
            <pc:docMk/>
            <pc:sldMk cId="2462997194" sldId="286"/>
            <ac:graphicFrameMk id="2" creationId="{827618FA-7120-3F71-1BE3-58B96A358799}"/>
          </ac:graphicFrameMkLst>
        </pc:graphicFrameChg>
      </pc:sldChg>
      <pc:sldChg chg="modSp mod">
        <pc:chgData name="Shashi Gupta" userId="093a9920a41221cd" providerId="LiveId" clId="{172AD355-A9E8-45A5-B128-5ED58C69C757}" dt="2026-09-01T19:40:48.022" v="9" actId="14100"/>
        <pc:sldMkLst>
          <pc:docMk/>
          <pc:sldMk cId="3403948920" sldId="287"/>
        </pc:sldMkLst>
        <pc:spChg chg="mod">
          <ac:chgData name="Shashi Gupta" userId="093a9920a41221cd" providerId="LiveId" clId="{172AD355-A9E8-45A5-B128-5ED58C69C757}" dt="2026-09-01T19:40:48.022" v="9" actId="14100"/>
          <ac:spMkLst>
            <pc:docMk/>
            <pc:sldMk cId="3403948920" sldId="287"/>
            <ac:spMk id="3" creationId="{FA08FD77-7414-C882-2719-DEB445BD5C0F}"/>
          </ac:spMkLst>
        </pc:spChg>
      </pc:sldChg>
      <pc:sldChg chg="modSp mod">
        <pc:chgData name="Shashi Gupta" userId="093a9920a41221cd" providerId="LiveId" clId="{172AD355-A9E8-45A5-B128-5ED58C69C757}" dt="2026-09-01T19:43:41.222" v="39" actId="1076"/>
        <pc:sldMkLst>
          <pc:docMk/>
          <pc:sldMk cId="0" sldId="288"/>
        </pc:sldMkLst>
        <pc:spChg chg="mod">
          <ac:chgData name="Shashi Gupta" userId="093a9920a41221cd" providerId="LiveId" clId="{172AD355-A9E8-45A5-B128-5ED58C69C757}" dt="2026-09-01T19:43:41.222" v="39" actId="1076"/>
          <ac:spMkLst>
            <pc:docMk/>
            <pc:sldMk cId="0" sldId="288"/>
            <ac:spMk id="2" creationId="{00000000-0000-0000-0000-000000000000}"/>
          </ac:spMkLst>
        </pc:spChg>
      </pc:sldChg>
      <pc:sldChg chg="modSp mod">
        <pc:chgData name="Shashi Gupta" userId="093a9920a41221cd" providerId="LiveId" clId="{172AD355-A9E8-45A5-B128-5ED58C69C757}" dt="2026-09-01T19:44:20.147" v="45" actId="14100"/>
        <pc:sldMkLst>
          <pc:docMk/>
          <pc:sldMk cId="0" sldId="289"/>
        </pc:sldMkLst>
        <pc:spChg chg="mod">
          <ac:chgData name="Shashi Gupta" userId="093a9920a41221cd" providerId="LiveId" clId="{172AD355-A9E8-45A5-B128-5ED58C69C757}" dt="2026-09-01T19:44:20.147" v="45" actId="14100"/>
          <ac:spMkLst>
            <pc:docMk/>
            <pc:sldMk cId="0" sldId="289"/>
            <ac:spMk id="2" creationId="{00000000-0000-0000-0000-000000000000}"/>
          </ac:spMkLst>
        </pc:spChg>
      </pc:sldChg>
      <pc:sldChg chg="modSp mod">
        <pc:chgData name="Shashi Gupta" userId="093a9920a41221cd" providerId="LiveId" clId="{172AD355-A9E8-45A5-B128-5ED58C69C757}" dt="2026-09-01T19:46:01.406" v="60" actId="1076"/>
        <pc:sldMkLst>
          <pc:docMk/>
          <pc:sldMk cId="0" sldId="290"/>
        </pc:sldMkLst>
        <pc:spChg chg="mod">
          <ac:chgData name="Shashi Gupta" userId="093a9920a41221cd" providerId="LiveId" clId="{172AD355-A9E8-45A5-B128-5ED58C69C757}" dt="2026-09-01T19:46:01.406" v="60" actId="1076"/>
          <ac:spMkLst>
            <pc:docMk/>
            <pc:sldMk cId="0" sldId="290"/>
            <ac:spMk id="3" creationId="{00000000-0000-0000-0000-000000000000}"/>
          </ac:spMkLst>
        </pc:spChg>
      </pc:sldChg>
      <pc:sldChg chg="modSp mod">
        <pc:chgData name="Shashi Gupta" userId="093a9920a41221cd" providerId="LiveId" clId="{172AD355-A9E8-45A5-B128-5ED58C69C757}" dt="2026-09-01T19:46:14.443" v="62" actId="14100"/>
        <pc:sldMkLst>
          <pc:docMk/>
          <pc:sldMk cId="0" sldId="291"/>
        </pc:sldMkLst>
      </pc:sldChg>
      <pc:sldChg chg="modSp mod">
        <pc:chgData name="Shashi Gupta" userId="093a9920a41221cd" providerId="LiveId" clId="{172AD355-A9E8-45A5-B128-5ED58C69C757}" dt="2026-09-01T19:42:05.900" v="21" actId="14100"/>
        <pc:sldMkLst>
          <pc:docMk/>
          <pc:sldMk cId="0" sldId="292"/>
        </pc:sldMkLst>
        <pc:spChg chg="mod">
          <ac:chgData name="Shashi Gupta" userId="093a9920a41221cd" providerId="LiveId" clId="{172AD355-A9E8-45A5-B128-5ED58C69C757}" dt="2026-09-01T19:42:05.900" v="21" actId="14100"/>
          <ac:spMkLst>
            <pc:docMk/>
            <pc:sldMk cId="0" sldId="292"/>
            <ac:spMk id="2" creationId="{00000000-0000-0000-0000-000000000000}"/>
          </ac:spMkLst>
        </pc:spChg>
      </pc:sldChg>
      <pc:sldChg chg="modSp mod">
        <pc:chgData name="Shashi Gupta" userId="093a9920a41221cd" providerId="LiveId" clId="{172AD355-A9E8-45A5-B128-5ED58C69C757}" dt="2026-09-01T19:41:53.410" v="19" actId="14100"/>
        <pc:sldMkLst>
          <pc:docMk/>
          <pc:sldMk cId="0" sldId="293"/>
        </pc:sldMkLst>
        <pc:spChg chg="mod">
          <ac:chgData name="Shashi Gupta" userId="093a9920a41221cd" providerId="LiveId" clId="{172AD355-A9E8-45A5-B128-5ED58C69C757}" dt="2026-09-01T19:41:53.410" v="19" actId="14100"/>
          <ac:spMkLst>
            <pc:docMk/>
            <pc:sldMk cId="0" sldId="293"/>
            <ac:spMk id="2" creationId="{00000000-0000-0000-0000-000000000000}"/>
          </ac:spMkLst>
        </pc:spChg>
      </pc:sldChg>
      <pc:sldChg chg="modSp mod">
        <pc:chgData name="Shashi Gupta" userId="093a9920a41221cd" providerId="LiveId" clId="{172AD355-A9E8-45A5-B128-5ED58C69C757}" dt="2026-09-01T19:42:42.550" v="28" actId="14100"/>
        <pc:sldMkLst>
          <pc:docMk/>
          <pc:sldMk cId="0" sldId="294"/>
        </pc:sldMkLst>
        <pc:spChg chg="mod">
          <ac:chgData name="Shashi Gupta" userId="093a9920a41221cd" providerId="LiveId" clId="{172AD355-A9E8-45A5-B128-5ED58C69C757}" dt="2026-09-01T19:42:42.550" v="28" actId="14100"/>
          <ac:spMkLst>
            <pc:docMk/>
            <pc:sldMk cId="0" sldId="294"/>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947BB-5E86-442B-877A-37187162907B}" type="datetimeFigureOut">
              <a:rPr lang="en-IN" smtClean="0"/>
              <a:pPr/>
              <a:t>08-09-2026</a:t>
            </a:fld>
            <a:endParaRPr lang="en-IN"/>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2A3FAB-C2DC-41E0-8E16-24C399F396B7}" type="slidenum">
              <a:rPr lang="en-IN" smtClean="0"/>
              <a:pPr/>
              <a:t>‹#›</a:t>
            </a:fld>
            <a:endParaRPr lang="en-IN"/>
          </a:p>
        </p:txBody>
      </p:sp>
    </p:spTree>
    <p:extLst>
      <p:ext uri="{BB962C8B-B14F-4D97-AF65-F5344CB8AC3E}">
        <p14:creationId xmlns:p14="http://schemas.microsoft.com/office/powerpoint/2010/main" val="4210832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2A3FAB-C2DC-41E0-8E16-24C399F396B7}" type="slidenum">
              <a:rPr lang="en-IN" smtClean="0"/>
              <a:pPr/>
              <a:t>1</a:t>
            </a:fld>
            <a:endParaRPr lang="en-IN"/>
          </a:p>
        </p:txBody>
      </p:sp>
    </p:spTree>
    <p:extLst>
      <p:ext uri="{BB962C8B-B14F-4D97-AF65-F5344CB8AC3E}">
        <p14:creationId xmlns:p14="http://schemas.microsoft.com/office/powerpoint/2010/main" val="2039802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1713" y="1143000"/>
            <a:ext cx="2314575"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42A3FAB-C2DC-41E0-8E16-24C399F396B7}" type="slidenum">
              <a:rPr lang="en-IN" smtClean="0"/>
              <a:pPr/>
              <a:t>10</a:t>
            </a:fld>
            <a:endParaRPr lang="en-IN"/>
          </a:p>
        </p:txBody>
      </p:sp>
    </p:spTree>
    <p:extLst>
      <p:ext uri="{BB962C8B-B14F-4D97-AF65-F5344CB8AC3E}">
        <p14:creationId xmlns:p14="http://schemas.microsoft.com/office/powerpoint/2010/main" val="4242069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2A3FAB-C2DC-41E0-8E16-24C399F396B7}" type="slidenum">
              <a:rPr lang="en-IN" smtClean="0"/>
              <a:pPr/>
              <a:t>24</a:t>
            </a:fld>
            <a:endParaRPr lang="en-IN"/>
          </a:p>
        </p:txBody>
      </p:sp>
    </p:spTree>
    <p:extLst>
      <p:ext uri="{BB962C8B-B14F-4D97-AF65-F5344CB8AC3E}">
        <p14:creationId xmlns:p14="http://schemas.microsoft.com/office/powerpoint/2010/main" val="387835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E15D00C-E84A-423D-97C9-D7E4092389F5}"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15D00C-E84A-423D-97C9-D7E4092389F5}"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15D00C-E84A-423D-97C9-D7E4092389F5}"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15D00C-E84A-423D-97C9-D7E4092389F5}"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E15D00C-E84A-423D-97C9-D7E4092389F5}"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15D00C-E84A-423D-97C9-D7E4092389F5}"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15D00C-E84A-423D-97C9-D7E4092389F5}"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15D00C-E84A-423D-97C9-D7E4092389F5}"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15D00C-E84A-423D-97C9-D7E4092389F5}"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15D00C-E84A-423D-97C9-D7E4092389F5}"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366185"/>
            <a:ext cx="1543050" cy="78020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366185"/>
            <a:ext cx="4514850" cy="78020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15D00C-E84A-423D-97C9-D7E4092389F5}"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FA8B27-3014-4DBB-A741-AA26FA717F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EE15D00C-E84A-423D-97C9-D7E4092389F5}" type="datetimeFigureOut">
              <a:rPr lang="en-US" smtClean="0"/>
              <a:pPr/>
              <a:t>9/8/2026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8DFA8B27-3014-4DBB-A741-AA26FA717F6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84" y="1143000"/>
            <a:ext cx="6885384" cy="1762470"/>
          </a:xfrm>
          <a:prstGeom prst="rect">
            <a:avLst/>
          </a:prstGeom>
          <a:noFill/>
        </p:spPr>
        <p:txBody>
          <a:bodyPr wrap="square" rtlCol="0">
            <a:spAutoFit/>
          </a:bodyPr>
          <a:lstStyle/>
          <a:p>
            <a:pPr algn="ctr">
              <a:lnSpc>
                <a:spcPct val="107000"/>
              </a:lnSpc>
              <a:spcAft>
                <a:spcPts val="800"/>
              </a:spcAft>
            </a:pPr>
            <a:r>
              <a:rPr lang="en-IN" sz="2000" b="1" dirty="0"/>
              <a:t>“</a:t>
            </a:r>
            <a:r>
              <a:rPr lang="en-IN" sz="2000" b="1" u="sng" dirty="0"/>
              <a:t>Comparison Of Surgically Induced Astigmatism In Manual Small Incision Cataract Surgery Following Straight Vs Frown Shaped Incision</a:t>
            </a:r>
            <a:r>
              <a:rPr lang="en-IN" sz="2000" b="1" dirty="0"/>
              <a:t>”</a:t>
            </a:r>
          </a:p>
          <a:p>
            <a:pPr algn="ctr">
              <a:lnSpc>
                <a:spcPct val="107000"/>
              </a:lnSpc>
              <a:spcAft>
                <a:spcPts val="800"/>
              </a:spcAft>
            </a:pPr>
            <a:r>
              <a:rPr lang="en-US" dirty="0"/>
              <a:t>SUBMITTED FOR THE AWARD OF THE MS DEGREE OF SAI TIRUPATI UNIVERSITY</a:t>
            </a:r>
            <a:endParaRPr lang="en-IN" dirty="0">
              <a:solidFill>
                <a:srgbClr val="000000"/>
              </a:solidFill>
              <a:ea typeface="Calibri" panose="020F0502020204030204" pitchFamily="34" charset="0"/>
            </a:endParaRPr>
          </a:p>
        </p:txBody>
      </p:sp>
      <p:pic>
        <p:nvPicPr>
          <p:cNvPr id="5" name="Picture 4"/>
          <p:cNvPicPr/>
          <p:nvPr/>
        </p:nvPicPr>
        <p:blipFill>
          <a:blip r:embed="rId3"/>
          <a:stretch>
            <a:fillRect/>
          </a:stretch>
        </p:blipFill>
        <p:spPr>
          <a:xfrm>
            <a:off x="2638680" y="5182008"/>
            <a:ext cx="1580628" cy="1502986"/>
          </a:xfrm>
          <a:prstGeom prst="rect">
            <a:avLst/>
          </a:prstGeom>
        </p:spPr>
      </p:pic>
      <p:sp>
        <p:nvSpPr>
          <p:cNvPr id="6" name="TextBox 5"/>
          <p:cNvSpPr txBox="1"/>
          <p:nvPr/>
        </p:nvSpPr>
        <p:spPr>
          <a:xfrm>
            <a:off x="398199" y="6795065"/>
            <a:ext cx="6061591" cy="1107996"/>
          </a:xfrm>
          <a:prstGeom prst="rect">
            <a:avLst/>
          </a:prstGeom>
          <a:noFill/>
        </p:spPr>
        <p:txBody>
          <a:bodyPr wrap="square" rtlCol="0">
            <a:spAutoFit/>
          </a:bodyPr>
          <a:lstStyle/>
          <a:p>
            <a:pPr algn="ctr"/>
            <a:r>
              <a:rPr lang="en-US" sz="2200" b="1" dirty="0"/>
              <a:t>DEPARTMENT OF OPHTHALMOLOGY</a:t>
            </a:r>
            <a:endParaRPr lang="en-US" sz="2200" dirty="0"/>
          </a:p>
          <a:p>
            <a:pPr algn="ctr"/>
            <a:r>
              <a:rPr lang="en-US" sz="2200" b="1" dirty="0"/>
              <a:t>PACIFIC INSTITUTE OF MEDICAL SCIENCES</a:t>
            </a:r>
            <a:endParaRPr lang="en-US" sz="2200" dirty="0"/>
          </a:p>
          <a:p>
            <a:pPr algn="ctr"/>
            <a:r>
              <a:rPr lang="en-US" sz="2200" b="1" dirty="0"/>
              <a:t>SAI TIRUPATI UNIVERSITY, UDAIPUR, RAJASTHAN</a:t>
            </a:r>
            <a:endParaRPr lang="en-US" sz="2200" dirty="0"/>
          </a:p>
        </p:txBody>
      </p:sp>
      <p:sp>
        <p:nvSpPr>
          <p:cNvPr id="7" name="TextBox 6"/>
          <p:cNvSpPr txBox="1"/>
          <p:nvPr/>
        </p:nvSpPr>
        <p:spPr>
          <a:xfrm>
            <a:off x="1025370" y="4025497"/>
            <a:ext cx="4807251" cy="1077218"/>
          </a:xfrm>
          <a:prstGeom prst="rect">
            <a:avLst/>
          </a:prstGeom>
          <a:noFill/>
        </p:spPr>
        <p:txBody>
          <a:bodyPr wrap="square" rtlCol="0">
            <a:spAutoFit/>
          </a:bodyPr>
          <a:lstStyle/>
          <a:p>
            <a:pPr algn="ctr"/>
            <a:r>
              <a:rPr lang="en-US" sz="2200" u="sng" dirty="0">
                <a:solidFill>
                  <a:srgbClr val="000000"/>
                </a:solidFill>
                <a:ea typeface="Calibri" panose="020F0502020204030204" pitchFamily="34" charset="0"/>
              </a:rPr>
              <a:t>GUIDE</a:t>
            </a:r>
            <a:r>
              <a:rPr lang="en-US" sz="2200" dirty="0">
                <a:solidFill>
                  <a:srgbClr val="000000"/>
                </a:solidFill>
                <a:ea typeface="Calibri" panose="020F0502020204030204" pitchFamily="34" charset="0"/>
              </a:rPr>
              <a:t>: -</a:t>
            </a:r>
            <a:endParaRPr lang="en-IN" sz="2200" dirty="0">
              <a:solidFill>
                <a:srgbClr val="000000"/>
              </a:solidFill>
              <a:ea typeface="Calibri" panose="020F0502020204030204" pitchFamily="34" charset="0"/>
            </a:endParaRPr>
          </a:p>
          <a:p>
            <a:pPr algn="ctr"/>
            <a:r>
              <a:rPr lang="en-US" sz="2400" b="1" dirty="0">
                <a:solidFill>
                  <a:schemeClr val="dk1"/>
                </a:solidFill>
              </a:rPr>
              <a:t>Dr. </a:t>
            </a:r>
            <a:r>
              <a:rPr lang="en-IN" sz="2400" b="1" dirty="0" err="1">
                <a:solidFill>
                  <a:schemeClr val="dk1"/>
                </a:solidFill>
              </a:rPr>
              <a:t>Jughal</a:t>
            </a:r>
            <a:r>
              <a:rPr lang="en-IN" sz="2400" b="1" dirty="0">
                <a:solidFill>
                  <a:schemeClr val="dk1"/>
                </a:solidFill>
              </a:rPr>
              <a:t> Kumar Kishore</a:t>
            </a:r>
            <a:endParaRPr lang="en-US" sz="2400" b="1" dirty="0">
              <a:solidFill>
                <a:schemeClr val="dk1"/>
              </a:solidFill>
            </a:endParaRPr>
          </a:p>
          <a:p>
            <a:pPr algn="ctr"/>
            <a:r>
              <a:rPr lang="en-US" dirty="0">
                <a:solidFill>
                  <a:srgbClr val="000000"/>
                </a:solidFill>
                <a:ea typeface="Times New Roman" panose="02020603050405020304" pitchFamily="18" charset="0"/>
                <a:cs typeface="Calibri" panose="020F0502020204030204" pitchFamily="34" charset="0"/>
              </a:rPr>
              <a:t>Professor</a:t>
            </a:r>
            <a:endParaRPr lang="en-IN" dirty="0">
              <a:solidFill>
                <a:srgbClr val="000000"/>
              </a:solidFill>
              <a:ea typeface="Calibri" panose="020F0502020204030204" pitchFamily="34" charset="0"/>
            </a:endParaRPr>
          </a:p>
        </p:txBody>
      </p:sp>
      <p:sp>
        <p:nvSpPr>
          <p:cNvPr id="9" name="TextBox 8"/>
          <p:cNvSpPr txBox="1"/>
          <p:nvPr/>
        </p:nvSpPr>
        <p:spPr>
          <a:xfrm>
            <a:off x="551426" y="2976683"/>
            <a:ext cx="5755138" cy="1046440"/>
          </a:xfrm>
          <a:prstGeom prst="rect">
            <a:avLst/>
          </a:prstGeom>
          <a:noFill/>
        </p:spPr>
        <p:txBody>
          <a:bodyPr wrap="square" rtlCol="0">
            <a:spAutoFit/>
          </a:bodyPr>
          <a:lstStyle/>
          <a:p>
            <a:pPr algn="ctr"/>
            <a:r>
              <a:rPr lang="en-US" sz="2200" dirty="0">
                <a:solidFill>
                  <a:srgbClr val="000000"/>
                </a:solidFill>
                <a:ea typeface="Calibri" panose="020F0502020204030204" pitchFamily="34" charset="0"/>
              </a:rPr>
              <a:t>BY</a:t>
            </a:r>
            <a:endParaRPr lang="en-IN" sz="2200" dirty="0">
              <a:solidFill>
                <a:srgbClr val="000000"/>
              </a:solidFill>
              <a:ea typeface="Calibri" panose="020F0502020204030204" pitchFamily="34" charset="0"/>
            </a:endParaRPr>
          </a:p>
          <a:p>
            <a:pPr algn="ctr"/>
            <a:r>
              <a:rPr lang="en-US" sz="2200" b="1" dirty="0">
                <a:solidFill>
                  <a:srgbClr val="000000"/>
                </a:solidFill>
                <a:ea typeface="Calibri" panose="020F0502020204030204" pitchFamily="34" charset="0"/>
              </a:rPr>
              <a:t>DR. SHASHI GUPTA</a:t>
            </a:r>
            <a:endParaRPr lang="en-IN" sz="2200" dirty="0">
              <a:solidFill>
                <a:srgbClr val="000000"/>
              </a:solidFill>
              <a:ea typeface="Calibri" panose="020F0502020204030204" pitchFamily="34" charset="0"/>
            </a:endParaRPr>
          </a:p>
          <a:p>
            <a:pPr algn="ctr"/>
            <a:r>
              <a:rPr lang="en-US" dirty="0">
                <a:solidFill>
                  <a:srgbClr val="000000"/>
                </a:solidFill>
                <a:ea typeface="Calibri" panose="020F0502020204030204" pitchFamily="34" charset="0"/>
              </a:rPr>
              <a:t>POST GRADUATE RESIDENT</a:t>
            </a:r>
            <a:r>
              <a:rPr lang="en-IN" dirty="0">
                <a:solidFill>
                  <a:srgbClr val="000000"/>
                </a:solidFill>
                <a:ea typeface="Calibri" panose="020F0502020204030204" pitchFamily="34" charset="0"/>
              </a:rPr>
              <a:t> </a:t>
            </a:r>
            <a:r>
              <a:rPr lang="en-US" dirty="0">
                <a:solidFill>
                  <a:srgbClr val="000000"/>
                </a:solidFill>
                <a:ea typeface="Calibri" panose="020F0502020204030204" pitchFamily="34" charset="0"/>
              </a:rPr>
              <a:t>OPHTHALMOLOGY</a:t>
            </a:r>
            <a:endParaRPr lang="en-IN" dirty="0">
              <a:solidFill>
                <a:srgbClr val="000000"/>
              </a:solidFill>
              <a:ea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27FFB8-3CAC-4B94-E3E5-AAA999F797C5}"/>
              </a:ext>
            </a:extLst>
          </p:cNvPr>
          <p:cNvSpPr txBox="1"/>
          <p:nvPr/>
        </p:nvSpPr>
        <p:spPr>
          <a:xfrm>
            <a:off x="-1143000" y="1143001"/>
            <a:ext cx="9144000" cy="1605439"/>
          </a:xfrm>
          <a:prstGeom prst="rect">
            <a:avLst/>
          </a:prstGeom>
          <a:noFill/>
        </p:spPr>
        <p:txBody>
          <a:bodyPr wrap="square">
            <a:spAutoFit/>
          </a:bodyPr>
          <a:lstStyle/>
          <a:p>
            <a:pPr algn="ctr">
              <a:lnSpc>
                <a:spcPct val="107000"/>
              </a:lnSpc>
              <a:spcAft>
                <a:spcPts val="800"/>
              </a:spcAft>
            </a:pPr>
            <a:r>
              <a:rPr lang="en-US" sz="2000" b="1" dirty="0">
                <a:solidFill>
                  <a:srgbClr val="000000"/>
                </a:solidFill>
                <a:latin typeface="Times New Roman" panose="02020603050405020304" pitchFamily="18" charset="0"/>
                <a:ea typeface="Calibri" panose="020F0502020204030204" pitchFamily="34" charset="0"/>
              </a:rPr>
              <a:t>PACIFIC INSTITUTE OF MEDICAL SCIENCES,UMARDA, UDAIPUR</a:t>
            </a:r>
            <a:endParaRPr lang="en-IN" sz="2000" dirty="0">
              <a:solidFill>
                <a:srgbClr val="000000"/>
              </a:solidFill>
              <a:latin typeface="Calibri" panose="020F0502020204030204" pitchFamily="34" charset="0"/>
              <a:ea typeface="Calibri" panose="020F0502020204030204" pitchFamily="34" charset="0"/>
            </a:endParaRPr>
          </a:p>
          <a:p>
            <a:pPr algn="ctr">
              <a:lnSpc>
                <a:spcPct val="107000"/>
              </a:lnSpc>
              <a:spcAft>
                <a:spcPts val="800"/>
              </a:spcAft>
            </a:pPr>
            <a:r>
              <a:rPr lang="en-US" sz="2000" b="1" dirty="0">
                <a:solidFill>
                  <a:srgbClr val="000000"/>
                </a:solidFill>
                <a:latin typeface="Times New Roman" panose="02020603050405020304" pitchFamily="18" charset="0"/>
                <a:ea typeface="Calibri" panose="020F0502020204030204" pitchFamily="34" charset="0"/>
              </a:rPr>
              <a:t>SAI TIRUPATI UNIVERSITY, UDAIPUR </a:t>
            </a:r>
          </a:p>
          <a:p>
            <a:pPr algn="ctr">
              <a:lnSpc>
                <a:spcPct val="107000"/>
              </a:lnSpc>
              <a:spcAft>
                <a:spcPts val="800"/>
              </a:spcAft>
            </a:pPr>
            <a:endParaRPr lang="en-US" sz="1600" b="1" kern="0" dirty="0">
              <a:solidFill>
                <a:srgbClr val="000000"/>
              </a:solidFill>
              <a:latin typeface="Times New Roman" panose="02020603050405020304" pitchFamily="18" charset="0"/>
              <a:ea typeface="Calibri" panose="020F0502020204030204" pitchFamily="34" charset="0"/>
              <a:cs typeface="Calibri" panose="020F0502020204030204" pitchFamily="34" charset="0"/>
            </a:endParaRPr>
          </a:p>
          <a:p>
            <a:pPr>
              <a:lnSpc>
                <a:spcPct val="107000"/>
              </a:lnSpc>
              <a:spcAft>
                <a:spcPts val="800"/>
              </a:spcAft>
            </a:pPr>
            <a:r>
              <a:rPr lang="en-US" b="1" kern="0" dirty="0">
                <a:solidFill>
                  <a:srgbClr val="000000"/>
                </a:solidFill>
                <a:latin typeface="Calibri Light" panose="020F0302020204030204" pitchFamily="34" charset="0"/>
                <a:ea typeface="Calibri" panose="020F0502020204030204" pitchFamily="34" charset="0"/>
                <a:cs typeface="Calibri" panose="020F0502020204030204" pitchFamily="34" charset="0"/>
              </a:rPr>
              <a:t>DETAILS OF THE POST GRADUATE CANDIDATE</a:t>
            </a:r>
            <a:endParaRPr lang="en-IN" dirty="0"/>
          </a:p>
        </p:txBody>
      </p:sp>
      <p:graphicFrame>
        <p:nvGraphicFramePr>
          <p:cNvPr id="6" name="Table 5">
            <a:extLst>
              <a:ext uri="{FF2B5EF4-FFF2-40B4-BE49-F238E27FC236}">
                <a16:creationId xmlns:a16="http://schemas.microsoft.com/office/drawing/2014/main" id="{C86ABE51-2298-1ADB-6887-5FAD38DFA587}"/>
              </a:ext>
            </a:extLst>
          </p:cNvPr>
          <p:cNvGraphicFramePr>
            <a:graphicFrameLocks noGrp="1"/>
          </p:cNvGraphicFramePr>
          <p:nvPr>
            <p:extLst>
              <p:ext uri="{D42A27DB-BD31-4B8C-83A1-F6EECF244321}">
                <p14:modId xmlns:p14="http://schemas.microsoft.com/office/powerpoint/2010/main" val="3116089010"/>
              </p:ext>
            </p:extLst>
          </p:nvPr>
        </p:nvGraphicFramePr>
        <p:xfrm>
          <a:off x="44624" y="2768056"/>
          <a:ext cx="6813376" cy="6201350"/>
        </p:xfrm>
        <a:graphic>
          <a:graphicData uri="http://schemas.openxmlformats.org/drawingml/2006/table">
            <a:tbl>
              <a:tblPr bandRow="1">
                <a:tableStyleId>{5C22544A-7EE6-4342-B048-85BDC9FD1C3A}</a:tableStyleId>
              </a:tblPr>
              <a:tblGrid>
                <a:gridCol w="402032">
                  <a:extLst>
                    <a:ext uri="{9D8B030D-6E8A-4147-A177-3AD203B41FA5}">
                      <a16:colId xmlns:a16="http://schemas.microsoft.com/office/drawing/2014/main" val="3887195317"/>
                    </a:ext>
                  </a:extLst>
                </a:gridCol>
                <a:gridCol w="2629074">
                  <a:extLst>
                    <a:ext uri="{9D8B030D-6E8A-4147-A177-3AD203B41FA5}">
                      <a16:colId xmlns:a16="http://schemas.microsoft.com/office/drawing/2014/main" val="2020041172"/>
                    </a:ext>
                  </a:extLst>
                </a:gridCol>
                <a:gridCol w="3782270">
                  <a:extLst>
                    <a:ext uri="{9D8B030D-6E8A-4147-A177-3AD203B41FA5}">
                      <a16:colId xmlns:a16="http://schemas.microsoft.com/office/drawing/2014/main" val="286334409"/>
                    </a:ext>
                  </a:extLst>
                </a:gridCol>
              </a:tblGrid>
              <a:tr h="588779">
                <a:tc>
                  <a:txBody>
                    <a:bodyPr/>
                    <a:lstStyle/>
                    <a:p>
                      <a:r>
                        <a:rPr lang="en-US" sz="2000" b="0" dirty="0"/>
                        <a:t>1.</a:t>
                      </a:r>
                      <a:endParaRPr lang="en-IN" sz="2000" b="0" dirty="0"/>
                    </a:p>
                  </a:txBody>
                  <a:tcPr/>
                </a:tc>
                <a:tc>
                  <a:txBody>
                    <a:bodyPr/>
                    <a:lstStyle/>
                    <a:p>
                      <a:r>
                        <a:rPr lang="en-US" sz="1800" b="1" kern="1200" dirty="0">
                          <a:solidFill>
                            <a:schemeClr val="tx1"/>
                          </a:solidFill>
                          <a:effectLst/>
                          <a:latin typeface="+mn-lt"/>
                          <a:ea typeface="+mn-ea"/>
                          <a:cs typeface="+mn-cs"/>
                        </a:rPr>
                        <a:t>NAME OF PG STUDENT</a:t>
                      </a:r>
                      <a:endParaRPr lang="en-IN" sz="1800" b="1" kern="1200" dirty="0">
                        <a:solidFill>
                          <a:schemeClr val="tx1"/>
                        </a:solidFill>
                        <a:effectLst/>
                        <a:latin typeface="+mn-lt"/>
                        <a:ea typeface="+mn-ea"/>
                        <a:cs typeface="+mn-cs"/>
                      </a:endParaRPr>
                    </a:p>
                    <a:p>
                      <a:r>
                        <a:rPr lang="en-US" sz="1800" b="1" kern="1200" dirty="0">
                          <a:solidFill>
                            <a:schemeClr val="tx1"/>
                          </a:solidFill>
                          <a:effectLst/>
                          <a:latin typeface="+mn-lt"/>
                          <a:ea typeface="+mn-ea"/>
                          <a:cs typeface="+mn-cs"/>
                        </a:rPr>
                        <a:t>(IN BLOCK LETTERS)</a:t>
                      </a:r>
                      <a:endParaRPr lang="en-IN" dirty="0">
                        <a:solidFill>
                          <a:schemeClr val="tx1"/>
                        </a:solidFill>
                      </a:endParaRPr>
                    </a:p>
                  </a:txBody>
                  <a:tcPr/>
                </a:tc>
                <a:tc>
                  <a:txBody>
                    <a:bodyPr/>
                    <a:lstStyle/>
                    <a:p>
                      <a:pPr algn="ctr">
                        <a:lnSpc>
                          <a:spcPct val="107000"/>
                        </a:lnSpc>
                        <a:spcAft>
                          <a:spcPts val="800"/>
                        </a:spcAft>
                      </a:pPr>
                      <a:r>
                        <a:rPr lang="en-US" sz="2000" b="1" kern="100" dirty="0">
                          <a:solidFill>
                            <a:srgbClr val="000000"/>
                          </a:solidFill>
                          <a:effectLst/>
                          <a:latin typeface="+mn-lt"/>
                          <a:ea typeface="Calibri" panose="020F0502020204030204" pitchFamily="34" charset="0"/>
                          <a:cs typeface="Mangal" panose="02040503050203030202" pitchFamily="18" charset="0"/>
                        </a:rPr>
                        <a:t>DR. SHASHI</a:t>
                      </a:r>
                      <a:r>
                        <a:rPr lang="en-US" sz="2000" b="1" kern="100" baseline="0" dirty="0">
                          <a:solidFill>
                            <a:srgbClr val="000000"/>
                          </a:solidFill>
                          <a:effectLst/>
                          <a:latin typeface="+mn-lt"/>
                          <a:ea typeface="Calibri" panose="020F0502020204030204" pitchFamily="34" charset="0"/>
                          <a:cs typeface="Mangal" panose="02040503050203030202" pitchFamily="18" charset="0"/>
                        </a:rPr>
                        <a:t> GUPTA</a:t>
                      </a:r>
                      <a:endParaRPr lang="en-IN" sz="2000" kern="100" dirty="0">
                        <a:solidFill>
                          <a:srgbClr val="000000"/>
                        </a:solidFill>
                        <a:effectLst/>
                        <a:latin typeface="+mn-lt"/>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253203734"/>
                  </a:ext>
                </a:extLst>
              </a:tr>
              <a:tr h="588779">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NAME OF INSTITUTE</a:t>
                      </a:r>
                      <a:endParaRPr lang="en-IN" sz="1800" kern="1200" dirty="0">
                        <a:solidFill>
                          <a:schemeClr val="dk1"/>
                        </a:solidFill>
                        <a:effectLst/>
                        <a:latin typeface="+mn-lt"/>
                        <a:ea typeface="+mn-ea"/>
                        <a:cs typeface="+mn-cs"/>
                      </a:endParaRPr>
                    </a:p>
                    <a:p>
                      <a:endParaRPr lang="en-IN" dirty="0"/>
                    </a:p>
                  </a:txBody>
                  <a:tcPr/>
                </a:tc>
                <a:tc>
                  <a:txBody>
                    <a:bodyPr/>
                    <a:lstStyle/>
                    <a:p>
                      <a:pPr algn="ctr"/>
                      <a:r>
                        <a:rPr lang="en-US" sz="1800" kern="1200" dirty="0">
                          <a:solidFill>
                            <a:schemeClr val="dk1"/>
                          </a:solidFill>
                          <a:effectLst/>
                          <a:latin typeface="+mn-lt"/>
                          <a:ea typeface="+mn-ea"/>
                          <a:cs typeface="+mn-cs"/>
                        </a:rPr>
                        <a:t>Pacific Institute of Medical Sciences</a:t>
                      </a:r>
                      <a:endParaRPr lang="en-IN" dirty="0"/>
                    </a:p>
                  </a:txBody>
                  <a:tcPr/>
                </a:tc>
                <a:extLst>
                  <a:ext uri="{0D108BD9-81ED-4DB2-BD59-A6C34878D82A}">
                    <a16:rowId xmlns:a16="http://schemas.microsoft.com/office/drawing/2014/main" val="4073157233"/>
                  </a:ext>
                </a:extLst>
              </a:tr>
              <a:tr h="588779">
                <a:tc>
                  <a:txBody>
                    <a:bodyPr/>
                    <a:lstStyle/>
                    <a:p>
                      <a:r>
                        <a:rPr lang="en-US" dirty="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STUDENT ENROLMENT NUMBER</a:t>
                      </a:r>
                      <a:endParaRPr lang="en-IN" sz="1800" kern="1200" dirty="0">
                        <a:solidFill>
                          <a:schemeClr val="dk1"/>
                        </a:solidFill>
                        <a:effectLst/>
                        <a:latin typeface="+mn-lt"/>
                        <a:ea typeface="+mn-ea"/>
                        <a:cs typeface="+mn-cs"/>
                      </a:endParaRPr>
                    </a:p>
                    <a:p>
                      <a:endParaRPr lang="en-IN" dirty="0"/>
                    </a:p>
                  </a:txBody>
                  <a:tcPr/>
                </a:tc>
                <a:tc>
                  <a:txBody>
                    <a:bodyPr/>
                    <a:lstStyle/>
                    <a:p>
                      <a:endParaRPr lang="en-IN" dirty="0"/>
                    </a:p>
                  </a:txBody>
                  <a:tcPr/>
                </a:tc>
                <a:extLst>
                  <a:ext uri="{0D108BD9-81ED-4DB2-BD59-A6C34878D82A}">
                    <a16:rowId xmlns:a16="http://schemas.microsoft.com/office/drawing/2014/main" val="1337648936"/>
                  </a:ext>
                </a:extLst>
              </a:tr>
              <a:tr h="494635">
                <a:tc>
                  <a:txBody>
                    <a:bodyPr/>
                    <a:lstStyle/>
                    <a:p>
                      <a:r>
                        <a:rPr lang="en-US" dirty="0"/>
                        <a:t>4.</a:t>
                      </a:r>
                      <a:endParaRPr lang="en-IN" dirty="0"/>
                    </a:p>
                  </a:txBody>
                  <a:tcPr/>
                </a:tc>
                <a:tc>
                  <a:txBody>
                    <a:bodyPr/>
                    <a:lstStyle/>
                    <a:p>
                      <a:r>
                        <a:rPr lang="en-US" sz="1800" kern="1200" dirty="0">
                          <a:solidFill>
                            <a:schemeClr val="dk1"/>
                          </a:solidFill>
                          <a:effectLst/>
                          <a:latin typeface="+mn-lt"/>
                          <a:ea typeface="+mn-ea"/>
                          <a:cs typeface="+mn-cs"/>
                        </a:rPr>
                        <a:t>NAME OF PG COURSE</a:t>
                      </a:r>
                      <a:endParaRPr lang="en-IN" dirty="0"/>
                    </a:p>
                  </a:txBody>
                  <a:tcPr/>
                </a:tc>
                <a:tc>
                  <a:txBody>
                    <a:bodyPr/>
                    <a:lstStyle/>
                    <a:p>
                      <a:pPr algn="ctr"/>
                      <a:r>
                        <a:rPr lang="en-US" sz="1800" b="1" kern="1200" dirty="0">
                          <a:solidFill>
                            <a:schemeClr val="dk1"/>
                          </a:solidFill>
                          <a:effectLst/>
                          <a:latin typeface="+mn-lt"/>
                          <a:ea typeface="+mn-ea"/>
                          <a:cs typeface="+mn-cs"/>
                        </a:rPr>
                        <a:t>M.S. Ophthalmology</a:t>
                      </a:r>
                      <a:endParaRPr lang="en-IN" dirty="0"/>
                    </a:p>
                  </a:txBody>
                  <a:tcPr/>
                </a:tc>
                <a:extLst>
                  <a:ext uri="{0D108BD9-81ED-4DB2-BD59-A6C34878D82A}">
                    <a16:rowId xmlns:a16="http://schemas.microsoft.com/office/drawing/2014/main" val="3120012757"/>
                  </a:ext>
                </a:extLst>
              </a:tr>
              <a:tr h="588779">
                <a:tc>
                  <a:txBody>
                    <a:bodyPr/>
                    <a:lstStyle/>
                    <a:p>
                      <a:r>
                        <a:rPr lang="en-US" dirty="0"/>
                        <a:t>5.</a:t>
                      </a:r>
                      <a:endParaRPr lang="en-IN" dirty="0"/>
                    </a:p>
                  </a:txBody>
                  <a:tcPr/>
                </a:tc>
                <a:tc>
                  <a:txBody>
                    <a:bodyPr/>
                    <a:lstStyle/>
                    <a:p>
                      <a:r>
                        <a:rPr lang="en-US" sz="1800" kern="1200" dirty="0">
                          <a:solidFill>
                            <a:schemeClr val="dk1"/>
                          </a:solidFill>
                          <a:effectLst/>
                          <a:latin typeface="+mn-lt"/>
                          <a:ea typeface="+mn-ea"/>
                          <a:cs typeface="+mn-cs"/>
                        </a:rPr>
                        <a:t>BROAD SPECIALIZATION</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(IN BLOCK LETTERS)</a:t>
                      </a:r>
                      <a:endParaRPr lang="en-IN" dirty="0"/>
                    </a:p>
                  </a:txBody>
                  <a:tcPr/>
                </a:tc>
                <a:tc>
                  <a:txBody>
                    <a:bodyPr/>
                    <a:lstStyle/>
                    <a:p>
                      <a:pPr algn="ctr"/>
                      <a:r>
                        <a:rPr lang="en-US" sz="1800" kern="1200" dirty="0">
                          <a:solidFill>
                            <a:schemeClr val="dk1"/>
                          </a:solidFill>
                          <a:effectLst/>
                          <a:latin typeface="+mn-lt"/>
                          <a:ea typeface="+mn-ea"/>
                          <a:cs typeface="+mn-cs"/>
                        </a:rPr>
                        <a:t>OPHTHALMOLOGY</a:t>
                      </a:r>
                      <a:endParaRPr lang="en-IN" dirty="0"/>
                    </a:p>
                  </a:txBody>
                  <a:tcPr/>
                </a:tc>
                <a:extLst>
                  <a:ext uri="{0D108BD9-81ED-4DB2-BD59-A6C34878D82A}">
                    <a16:rowId xmlns:a16="http://schemas.microsoft.com/office/drawing/2014/main" val="1391078493"/>
                  </a:ext>
                </a:extLst>
              </a:tr>
              <a:tr h="494635">
                <a:tc>
                  <a:txBody>
                    <a:bodyPr/>
                    <a:lstStyle/>
                    <a:p>
                      <a:r>
                        <a:rPr lang="en-US" dirty="0"/>
                        <a:t>6.</a:t>
                      </a:r>
                      <a:endParaRPr lang="en-IN" dirty="0"/>
                    </a:p>
                  </a:txBody>
                  <a:tcPr/>
                </a:tc>
                <a:tc>
                  <a:txBody>
                    <a:bodyPr/>
                    <a:lstStyle/>
                    <a:p>
                      <a:r>
                        <a:rPr lang="en-US" sz="1800" kern="1200" dirty="0">
                          <a:solidFill>
                            <a:schemeClr val="dk1"/>
                          </a:solidFill>
                          <a:effectLst/>
                          <a:latin typeface="+mn-lt"/>
                          <a:ea typeface="+mn-ea"/>
                          <a:cs typeface="+mn-cs"/>
                        </a:rPr>
                        <a:t>ACADEMIC SESSION OF ADMISSION</a:t>
                      </a:r>
                      <a:endParaRPr lang="en-IN" dirty="0"/>
                    </a:p>
                  </a:txBody>
                  <a:tcPr/>
                </a:tc>
                <a:tc>
                  <a:txBody>
                    <a:bodyPr/>
                    <a:lstStyle/>
                    <a:p>
                      <a:pPr algn="ctr"/>
                      <a:r>
                        <a:rPr lang="en-US" sz="1800" kern="1200" dirty="0">
                          <a:solidFill>
                            <a:schemeClr val="dk1"/>
                          </a:solidFill>
                          <a:effectLst/>
                          <a:latin typeface="+mn-lt"/>
                          <a:ea typeface="+mn-ea"/>
                          <a:cs typeface="+mn-cs"/>
                        </a:rPr>
                        <a:t>2023-2026</a:t>
                      </a:r>
                      <a:endParaRPr lang="en-IN" dirty="0"/>
                    </a:p>
                  </a:txBody>
                  <a:tcPr/>
                </a:tc>
                <a:extLst>
                  <a:ext uri="{0D108BD9-81ED-4DB2-BD59-A6C34878D82A}">
                    <a16:rowId xmlns:a16="http://schemas.microsoft.com/office/drawing/2014/main" val="1394782096"/>
                  </a:ext>
                </a:extLst>
              </a:tr>
              <a:tr h="494635">
                <a:tc>
                  <a:txBody>
                    <a:bodyPr/>
                    <a:lstStyle/>
                    <a:p>
                      <a:r>
                        <a:rPr lang="en-US" dirty="0"/>
                        <a:t>7.</a:t>
                      </a:r>
                      <a:endParaRPr lang="en-IN" dirty="0"/>
                    </a:p>
                  </a:txBody>
                  <a:tcPr/>
                </a:tc>
                <a:tc>
                  <a:txBody>
                    <a:bodyPr/>
                    <a:lstStyle/>
                    <a:p>
                      <a:r>
                        <a:rPr lang="en-US" sz="1800" kern="1200" dirty="0">
                          <a:solidFill>
                            <a:schemeClr val="dk1"/>
                          </a:solidFill>
                          <a:effectLst/>
                          <a:latin typeface="+mn-lt"/>
                          <a:ea typeface="+mn-ea"/>
                          <a:cs typeface="+mn-cs"/>
                        </a:rPr>
                        <a:t>DURATION OF COURSE</a:t>
                      </a:r>
                      <a:endParaRPr lang="en-IN" dirty="0"/>
                    </a:p>
                  </a:txBody>
                  <a:tcPr/>
                </a:tc>
                <a:tc>
                  <a:txBody>
                    <a:bodyPr/>
                    <a:lstStyle/>
                    <a:p>
                      <a:pPr algn="ctr"/>
                      <a:r>
                        <a:rPr lang="en-US" sz="1800" kern="1200" dirty="0">
                          <a:solidFill>
                            <a:schemeClr val="dk1"/>
                          </a:solidFill>
                          <a:effectLst/>
                          <a:latin typeface="+mn-lt"/>
                          <a:ea typeface="+mn-ea"/>
                          <a:cs typeface="+mn-cs"/>
                        </a:rPr>
                        <a:t>3 Years</a:t>
                      </a:r>
                      <a:endParaRPr lang="en-IN" dirty="0"/>
                    </a:p>
                  </a:txBody>
                  <a:tcPr/>
                </a:tc>
                <a:extLst>
                  <a:ext uri="{0D108BD9-81ED-4DB2-BD59-A6C34878D82A}">
                    <a16:rowId xmlns:a16="http://schemas.microsoft.com/office/drawing/2014/main" val="4110126476"/>
                  </a:ext>
                </a:extLst>
              </a:tr>
              <a:tr h="1093446">
                <a:tc>
                  <a:txBody>
                    <a:bodyPr/>
                    <a:lstStyle/>
                    <a:p>
                      <a:r>
                        <a:rPr lang="en-US" dirty="0"/>
                        <a:t>8.</a:t>
                      </a:r>
                      <a:endParaRPr lang="en-IN" dirty="0"/>
                    </a:p>
                  </a:txBody>
                  <a:tcPr/>
                </a:tc>
                <a:tc>
                  <a:txBody>
                    <a:bodyPr/>
                    <a:lstStyle/>
                    <a:p>
                      <a:r>
                        <a:rPr lang="en-US" sz="1800" kern="1200" dirty="0">
                          <a:solidFill>
                            <a:schemeClr val="dk1"/>
                          </a:solidFill>
                          <a:effectLst/>
                          <a:latin typeface="+mn-lt"/>
                          <a:ea typeface="+mn-ea"/>
                          <a:cs typeface="+mn-cs"/>
                        </a:rPr>
                        <a:t>CONTACT DETAILS</a:t>
                      </a:r>
                      <a:endParaRPr lang="en-IN" sz="1800" kern="1200" dirty="0">
                        <a:solidFill>
                          <a:schemeClr val="dk1"/>
                        </a:solidFill>
                        <a:effectLst/>
                        <a:latin typeface="+mn-lt"/>
                        <a:ea typeface="+mn-ea"/>
                        <a:cs typeface="+mn-cs"/>
                      </a:endParaRPr>
                    </a:p>
                    <a:p>
                      <a:r>
                        <a:rPr lang="en-US" sz="1800" kern="1200" dirty="0" err="1">
                          <a:solidFill>
                            <a:schemeClr val="dk1"/>
                          </a:solidFill>
                          <a:effectLst/>
                          <a:latin typeface="+mn-lt"/>
                          <a:ea typeface="+mn-ea"/>
                          <a:cs typeface="+mn-cs"/>
                        </a:rPr>
                        <a:t>i</a:t>
                      </a:r>
                      <a:r>
                        <a:rPr lang="en-US" sz="1800" kern="1200" dirty="0">
                          <a:solidFill>
                            <a:schemeClr val="dk1"/>
                          </a:solidFill>
                          <a:effectLst/>
                          <a:latin typeface="+mn-lt"/>
                          <a:ea typeface="+mn-ea"/>
                          <a:cs typeface="+mn-cs"/>
                        </a:rPr>
                        <a:t>. Residential Address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ii. Email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iii. Mobile no</a:t>
                      </a:r>
                      <a:endParaRPr lang="en-IN" dirty="0"/>
                    </a:p>
                  </a:txBody>
                  <a:tcPr/>
                </a:tc>
                <a:tc>
                  <a:txBody>
                    <a:bodyPr/>
                    <a:lstStyle/>
                    <a:p>
                      <a:endParaRPr lang="en-US" dirty="0"/>
                    </a:p>
                    <a:p>
                      <a:pPr algn="ctr"/>
                      <a:r>
                        <a:rPr lang="en-US" sz="1800" kern="1200" dirty="0">
                          <a:solidFill>
                            <a:schemeClr val="dk1"/>
                          </a:solidFill>
                          <a:latin typeface="+mn-lt"/>
                          <a:ea typeface="+mn-ea"/>
                          <a:cs typeface="+mn-cs"/>
                        </a:rPr>
                        <a:t>ADARSH NAGAR COLONY,MUKERIGANJ,AZAMGARH 276001</a:t>
                      </a:r>
                    </a:p>
                    <a:p>
                      <a:pPr algn="ctr"/>
                      <a:r>
                        <a:rPr lang="en-US" sz="1800" u="sng" kern="1200" dirty="0">
                          <a:solidFill>
                            <a:schemeClr val="dk1"/>
                          </a:solidFill>
                          <a:effectLst/>
                          <a:latin typeface="+mn-lt"/>
                          <a:ea typeface="+mn-ea"/>
                          <a:cs typeface="+mn-cs"/>
                        </a:rPr>
                        <a:t>SHASHI-GUPTA@LIVE.COM</a:t>
                      </a:r>
                      <a:endParaRPr lang="en-IN" sz="1800" kern="1200" dirty="0">
                        <a:solidFill>
                          <a:schemeClr val="dk1"/>
                        </a:solidFill>
                        <a:effectLst/>
                        <a:latin typeface="+mn-lt"/>
                        <a:ea typeface="+mn-ea"/>
                        <a:cs typeface="+mn-cs"/>
                      </a:endParaRPr>
                    </a:p>
                    <a:p>
                      <a:pPr algn="ctr"/>
                      <a:r>
                        <a:rPr lang="en-US" sz="1800" kern="1200" dirty="0">
                          <a:solidFill>
                            <a:schemeClr val="dk1"/>
                          </a:solidFill>
                          <a:effectLst/>
                          <a:latin typeface="+mn-lt"/>
                          <a:ea typeface="+mn-ea"/>
                          <a:cs typeface="+mn-cs"/>
                        </a:rPr>
                        <a:t>7860245819</a:t>
                      </a:r>
                      <a:endParaRPr lang="en-IN" dirty="0"/>
                    </a:p>
                  </a:txBody>
                  <a:tcPr/>
                </a:tc>
                <a:extLst>
                  <a:ext uri="{0D108BD9-81ED-4DB2-BD59-A6C34878D82A}">
                    <a16:rowId xmlns:a16="http://schemas.microsoft.com/office/drawing/2014/main" val="809353306"/>
                  </a:ext>
                </a:extLst>
              </a:tr>
            </a:tbl>
          </a:graphicData>
        </a:graphic>
      </p:graphicFrame>
    </p:spTree>
    <p:extLst>
      <p:ext uri="{BB962C8B-B14F-4D97-AF65-F5344CB8AC3E}">
        <p14:creationId xmlns:p14="http://schemas.microsoft.com/office/powerpoint/2010/main" val="2553051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27618FA-7120-3F71-1BE3-58B96A358799}"/>
              </a:ext>
            </a:extLst>
          </p:cNvPr>
          <p:cNvGraphicFramePr>
            <a:graphicFrameLocks noGrp="1"/>
          </p:cNvGraphicFramePr>
          <p:nvPr>
            <p:extLst>
              <p:ext uri="{D42A27DB-BD31-4B8C-83A1-F6EECF244321}">
                <p14:modId xmlns:p14="http://schemas.microsoft.com/office/powerpoint/2010/main" val="2629528240"/>
              </p:ext>
            </p:extLst>
          </p:nvPr>
        </p:nvGraphicFramePr>
        <p:xfrm>
          <a:off x="44624" y="1115616"/>
          <a:ext cx="6813376" cy="4572000"/>
        </p:xfrm>
        <a:graphic>
          <a:graphicData uri="http://schemas.openxmlformats.org/drawingml/2006/table">
            <a:tbl>
              <a:tblPr bandRow="1">
                <a:tableStyleId>{5C22544A-7EE6-4342-B048-85BDC9FD1C3A}</a:tableStyleId>
              </a:tblPr>
              <a:tblGrid>
                <a:gridCol w="402031">
                  <a:extLst>
                    <a:ext uri="{9D8B030D-6E8A-4147-A177-3AD203B41FA5}">
                      <a16:colId xmlns:a16="http://schemas.microsoft.com/office/drawing/2014/main" val="1268402426"/>
                    </a:ext>
                  </a:extLst>
                </a:gridCol>
                <a:gridCol w="2629075">
                  <a:extLst>
                    <a:ext uri="{9D8B030D-6E8A-4147-A177-3AD203B41FA5}">
                      <a16:colId xmlns:a16="http://schemas.microsoft.com/office/drawing/2014/main" val="2368547060"/>
                    </a:ext>
                  </a:extLst>
                </a:gridCol>
                <a:gridCol w="3782270">
                  <a:extLst>
                    <a:ext uri="{9D8B030D-6E8A-4147-A177-3AD203B41FA5}">
                      <a16:colId xmlns:a16="http://schemas.microsoft.com/office/drawing/2014/main" val="1192005131"/>
                    </a:ext>
                  </a:extLst>
                </a:gridCol>
              </a:tblGrid>
              <a:tr h="1345780">
                <a:tc>
                  <a:txBody>
                    <a:bodyPr/>
                    <a:lstStyle/>
                    <a:p>
                      <a:r>
                        <a:rPr lang="en-US" dirty="0"/>
                        <a:t>9.</a:t>
                      </a:r>
                      <a:endParaRPr lang="en-IN" dirty="0"/>
                    </a:p>
                  </a:txBody>
                  <a:tcPr/>
                </a:tc>
                <a:tc>
                  <a:txBody>
                    <a:bodyPr/>
                    <a:lstStyle/>
                    <a:p>
                      <a:r>
                        <a:rPr lang="en-US" sz="1800" kern="1200" dirty="0">
                          <a:solidFill>
                            <a:schemeClr val="dk1"/>
                          </a:solidFill>
                          <a:effectLst/>
                          <a:latin typeface="+mn-lt"/>
                          <a:ea typeface="+mn-ea"/>
                          <a:cs typeface="+mn-cs"/>
                        </a:rPr>
                        <a:t>POST GRADUATE GUIDE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Name</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Designation</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Department</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Institute</a:t>
                      </a:r>
                      <a:endParaRPr lang="en-IN" dirty="0"/>
                    </a:p>
                  </a:txBody>
                  <a:tcPr/>
                </a:tc>
                <a:tc>
                  <a:txBody>
                    <a:bodyPr/>
                    <a:lstStyle/>
                    <a:p>
                      <a:pPr algn="ctr"/>
                      <a:endParaRPr lang="en-US" dirty="0"/>
                    </a:p>
                    <a:p>
                      <a:pPr algn="ctr"/>
                      <a:r>
                        <a:rPr lang="en-IN" sz="1800" b="1" kern="1200" dirty="0" err="1">
                          <a:solidFill>
                            <a:schemeClr val="dk1"/>
                          </a:solidFill>
                          <a:latin typeface="+mn-lt"/>
                          <a:ea typeface="+mn-ea"/>
                          <a:cs typeface="+mn-cs"/>
                        </a:rPr>
                        <a:t>Dr.</a:t>
                      </a:r>
                      <a:r>
                        <a:rPr lang="en-IN" sz="1800" b="1" kern="1200" dirty="0">
                          <a:solidFill>
                            <a:schemeClr val="dk1"/>
                          </a:solidFill>
                          <a:latin typeface="+mn-lt"/>
                          <a:ea typeface="+mn-ea"/>
                          <a:cs typeface="+mn-cs"/>
                        </a:rPr>
                        <a:t> </a:t>
                      </a:r>
                      <a:r>
                        <a:rPr lang="en-IN" sz="1800" b="1" kern="1200" dirty="0" err="1">
                          <a:solidFill>
                            <a:schemeClr val="dk1"/>
                          </a:solidFill>
                          <a:latin typeface="+mn-lt"/>
                          <a:ea typeface="+mn-ea"/>
                          <a:cs typeface="+mn-cs"/>
                        </a:rPr>
                        <a:t>Jughal</a:t>
                      </a:r>
                      <a:r>
                        <a:rPr lang="en-IN" sz="1800" b="1" kern="1200" dirty="0">
                          <a:solidFill>
                            <a:schemeClr val="dk1"/>
                          </a:solidFill>
                          <a:latin typeface="+mn-lt"/>
                          <a:ea typeface="+mn-ea"/>
                          <a:cs typeface="+mn-cs"/>
                        </a:rPr>
                        <a:t> Kumar Kishore</a:t>
                      </a:r>
                      <a:endParaRPr lang="en-US" sz="1800" b="1" kern="1200" dirty="0">
                        <a:solidFill>
                          <a:schemeClr val="dk1"/>
                        </a:solidFill>
                        <a:latin typeface="+mn-lt"/>
                        <a:ea typeface="+mn-ea"/>
                        <a:cs typeface="+mn-cs"/>
                      </a:endParaRPr>
                    </a:p>
                    <a:p>
                      <a:pPr algn="ctr"/>
                      <a:r>
                        <a:rPr lang="en-US" sz="1800" kern="1200" dirty="0">
                          <a:solidFill>
                            <a:schemeClr val="dk1"/>
                          </a:solidFill>
                          <a:effectLst/>
                          <a:latin typeface="+mn-lt"/>
                          <a:ea typeface="+mn-ea"/>
                          <a:cs typeface="+mn-cs"/>
                        </a:rPr>
                        <a:t>Professor, </a:t>
                      </a:r>
                      <a:endParaRPr lang="en-IN" sz="1800" kern="1200" dirty="0">
                        <a:solidFill>
                          <a:schemeClr val="dk1"/>
                        </a:solidFill>
                        <a:effectLst/>
                        <a:latin typeface="+mn-lt"/>
                        <a:ea typeface="+mn-ea"/>
                        <a:cs typeface="+mn-cs"/>
                      </a:endParaRPr>
                    </a:p>
                    <a:p>
                      <a:pPr algn="ctr"/>
                      <a:r>
                        <a:rPr lang="en-US" sz="1800" kern="1200" dirty="0">
                          <a:solidFill>
                            <a:schemeClr val="dk1"/>
                          </a:solidFill>
                          <a:effectLst/>
                          <a:latin typeface="+mn-lt"/>
                          <a:ea typeface="+mn-ea"/>
                          <a:cs typeface="+mn-cs"/>
                        </a:rPr>
                        <a:t>Dept. of Ophthalmology, </a:t>
                      </a:r>
                      <a:endParaRPr lang="en-IN" sz="1800" kern="1200" dirty="0">
                        <a:solidFill>
                          <a:schemeClr val="dk1"/>
                        </a:solidFill>
                        <a:effectLst/>
                        <a:latin typeface="+mn-lt"/>
                        <a:ea typeface="+mn-ea"/>
                        <a:cs typeface="+mn-cs"/>
                      </a:endParaRPr>
                    </a:p>
                    <a:p>
                      <a:pPr algn="ctr"/>
                      <a:r>
                        <a:rPr lang="en-US" sz="1800" kern="1200" dirty="0">
                          <a:solidFill>
                            <a:schemeClr val="dk1"/>
                          </a:solidFill>
                          <a:effectLst/>
                          <a:latin typeface="+mn-lt"/>
                          <a:ea typeface="+mn-ea"/>
                          <a:cs typeface="+mn-cs"/>
                        </a:rPr>
                        <a:t>Pacific Institute of Medical Sciences</a:t>
                      </a:r>
                      <a:endParaRPr lang="en-IN" sz="1800" kern="1200" dirty="0">
                        <a:solidFill>
                          <a:schemeClr val="dk1"/>
                        </a:solidFill>
                        <a:effectLst/>
                        <a:latin typeface="+mn-lt"/>
                        <a:ea typeface="+mn-ea"/>
                        <a:cs typeface="+mn-cs"/>
                      </a:endParaRPr>
                    </a:p>
                  </a:txBody>
                  <a:tcPr/>
                </a:tc>
                <a:extLst>
                  <a:ext uri="{0D108BD9-81ED-4DB2-BD59-A6C34878D82A}">
                    <a16:rowId xmlns:a16="http://schemas.microsoft.com/office/drawing/2014/main" val="3481444013"/>
                  </a:ext>
                </a:extLst>
              </a:tr>
              <a:tr h="2859782">
                <a:tc>
                  <a:txBody>
                    <a:bodyPr/>
                    <a:lstStyle/>
                    <a:p>
                      <a:r>
                        <a:rPr lang="en-US" dirty="0"/>
                        <a:t>10.</a:t>
                      </a:r>
                      <a:endParaRPr lang="en-IN" dirty="0"/>
                    </a:p>
                  </a:txBody>
                  <a:tcPr/>
                </a:tc>
                <a:tc>
                  <a:txBody>
                    <a:bodyPr/>
                    <a:lstStyle/>
                    <a:p>
                      <a:r>
                        <a:rPr lang="en-US" sz="1800" kern="1200" dirty="0">
                          <a:solidFill>
                            <a:schemeClr val="dk1"/>
                          </a:solidFill>
                          <a:effectLst/>
                          <a:latin typeface="+mn-lt"/>
                          <a:ea typeface="+mn-ea"/>
                          <a:cs typeface="+mn-cs"/>
                        </a:rPr>
                        <a:t>APPROVED BY:</a:t>
                      </a:r>
                      <a:endParaRPr lang="en-IN" sz="1800" kern="1200" dirty="0">
                        <a:solidFill>
                          <a:schemeClr val="dk1"/>
                        </a:solidFill>
                        <a:effectLst/>
                        <a:latin typeface="+mn-lt"/>
                        <a:ea typeface="+mn-ea"/>
                        <a:cs typeface="+mn-cs"/>
                      </a:endParaRPr>
                    </a:p>
                    <a:p>
                      <a:r>
                        <a:rPr lang="en-US" sz="1800" b="1" kern="1200" dirty="0">
                          <a:solidFill>
                            <a:schemeClr val="dk1"/>
                          </a:solidFill>
                          <a:effectLst/>
                          <a:latin typeface="+mn-lt"/>
                          <a:ea typeface="+mn-ea"/>
                          <a:cs typeface="+mn-cs"/>
                        </a:rPr>
                        <a:t>Guide:-    </a:t>
                      </a:r>
                      <a:r>
                        <a:rPr lang="en-US" sz="1800" kern="1200" dirty="0">
                          <a:solidFill>
                            <a:schemeClr val="dk1"/>
                          </a:solidFill>
                          <a:effectLst/>
                          <a:latin typeface="+mn-lt"/>
                          <a:ea typeface="+mn-ea"/>
                          <a:cs typeface="+mn-cs"/>
                        </a:rPr>
                        <a:t>Name</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	Designation</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	Signature</a:t>
                      </a:r>
                    </a:p>
                    <a:p>
                      <a:endParaRPr lang="en-IN" sz="1800" kern="1200" dirty="0">
                        <a:solidFill>
                          <a:schemeClr val="dk1"/>
                        </a:solidFill>
                        <a:effectLst/>
                        <a:latin typeface="+mn-lt"/>
                        <a:ea typeface="+mn-ea"/>
                        <a:cs typeface="+mn-cs"/>
                      </a:endParaRPr>
                    </a:p>
                    <a:p>
                      <a:r>
                        <a:rPr lang="en-US" sz="1800" b="1" kern="1200" dirty="0">
                          <a:solidFill>
                            <a:schemeClr val="dk1"/>
                          </a:solidFill>
                          <a:effectLst/>
                          <a:latin typeface="+mn-lt"/>
                          <a:ea typeface="+mn-ea"/>
                          <a:cs typeface="+mn-cs"/>
                        </a:rPr>
                        <a:t>HOD:-</a:t>
                      </a:r>
                      <a:r>
                        <a:rPr lang="en-US" sz="1800" kern="1200" dirty="0">
                          <a:solidFill>
                            <a:schemeClr val="dk1"/>
                          </a:solidFill>
                          <a:effectLst/>
                          <a:latin typeface="+mn-lt"/>
                          <a:ea typeface="+mn-ea"/>
                          <a:cs typeface="+mn-cs"/>
                        </a:rPr>
                        <a:t>	Name</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	Designation</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	Signature</a:t>
                      </a:r>
                      <a:endParaRPr lang="en-IN" sz="1800" kern="1200" dirty="0">
                        <a:solidFill>
                          <a:schemeClr val="dk1"/>
                        </a:solidFill>
                        <a:effectLst/>
                        <a:latin typeface="+mn-lt"/>
                        <a:ea typeface="+mn-ea"/>
                        <a:cs typeface="+mn-cs"/>
                      </a:endParaRPr>
                    </a:p>
                    <a:p>
                      <a:endParaRPr lang="en-IN" dirty="0"/>
                    </a:p>
                  </a:txBody>
                  <a:tcPr/>
                </a:tc>
                <a:tc>
                  <a:txBody>
                    <a:bodyPr/>
                    <a:lstStyle/>
                    <a:p>
                      <a:endParaRPr lang="en-US" dirty="0"/>
                    </a:p>
                    <a:p>
                      <a:pPr algn="ctr"/>
                      <a:r>
                        <a:rPr lang="en-US" sz="1800" b="1" dirty="0">
                          <a:solidFill>
                            <a:schemeClr val="dk1"/>
                          </a:solidFill>
                        </a:rPr>
                        <a:t>Dr. </a:t>
                      </a:r>
                      <a:r>
                        <a:rPr lang="en-IN" sz="1800" b="1" dirty="0" err="1">
                          <a:solidFill>
                            <a:schemeClr val="dk1"/>
                          </a:solidFill>
                        </a:rPr>
                        <a:t>Jughal</a:t>
                      </a:r>
                      <a:r>
                        <a:rPr lang="en-IN" sz="1800" b="1" dirty="0">
                          <a:solidFill>
                            <a:schemeClr val="dk1"/>
                          </a:solidFill>
                        </a:rPr>
                        <a:t> Kumar Kishore</a:t>
                      </a:r>
                      <a:endParaRPr lang="en-US" sz="1800" b="1" kern="1200" dirty="0">
                        <a:solidFill>
                          <a:schemeClr val="dk1"/>
                        </a:solidFill>
                        <a:latin typeface="+mn-lt"/>
                        <a:ea typeface="+mn-ea"/>
                        <a:cs typeface="+mn-cs"/>
                      </a:endParaRPr>
                    </a:p>
                    <a:p>
                      <a:pPr algn="ctr"/>
                      <a:r>
                        <a:rPr lang="en-US" sz="1800" kern="1200" dirty="0">
                          <a:solidFill>
                            <a:schemeClr val="dk1"/>
                          </a:solidFill>
                          <a:effectLst/>
                          <a:latin typeface="+mn-lt"/>
                          <a:ea typeface="+mn-ea"/>
                          <a:cs typeface="+mn-cs"/>
                        </a:rPr>
                        <a:t>Professor</a:t>
                      </a:r>
                    </a:p>
                    <a:p>
                      <a:pPr algn="ctr"/>
                      <a:endParaRPr lang="en-US" sz="1800" kern="1200" dirty="0">
                        <a:solidFill>
                          <a:schemeClr val="dk1"/>
                        </a:solidFill>
                        <a:effectLst/>
                        <a:latin typeface="+mn-lt"/>
                        <a:ea typeface="+mn-ea"/>
                        <a:cs typeface="+mn-cs"/>
                      </a:endParaRPr>
                    </a:p>
                    <a:p>
                      <a:pPr algn="ctr"/>
                      <a:endParaRPr lang="en-US" sz="1800" kern="1200" dirty="0">
                        <a:solidFill>
                          <a:schemeClr val="dk1"/>
                        </a:solidFill>
                        <a:effectLst/>
                        <a:latin typeface="+mn-lt"/>
                        <a:ea typeface="+mn-ea"/>
                        <a:cs typeface="+mn-cs"/>
                      </a:endParaRPr>
                    </a:p>
                    <a:p>
                      <a:pPr algn="ctr"/>
                      <a:endParaRPr lang="en-US" sz="1800" kern="1200" dirty="0">
                        <a:solidFill>
                          <a:schemeClr val="dk1"/>
                        </a:solidFill>
                        <a:effectLst/>
                        <a:latin typeface="+mn-lt"/>
                        <a:ea typeface="+mn-ea"/>
                        <a:cs typeface="+mn-cs"/>
                      </a:endParaRPr>
                    </a:p>
                    <a:p>
                      <a:pPr algn="ctr"/>
                      <a:r>
                        <a:rPr lang="en-US" sz="1800" b="1" kern="1200" dirty="0">
                          <a:solidFill>
                            <a:schemeClr val="dk1"/>
                          </a:solidFill>
                          <a:latin typeface="+mn-lt"/>
                          <a:ea typeface="+mn-ea"/>
                          <a:cs typeface="+mn-cs"/>
                        </a:rPr>
                        <a:t>Dr. NITIN</a:t>
                      </a:r>
                      <a:r>
                        <a:rPr lang="en-US" sz="1800" b="1" kern="1200" baseline="0" dirty="0">
                          <a:solidFill>
                            <a:schemeClr val="dk1"/>
                          </a:solidFill>
                          <a:latin typeface="+mn-lt"/>
                          <a:ea typeface="+mn-ea"/>
                          <a:cs typeface="+mn-cs"/>
                        </a:rPr>
                        <a:t> SINGH SALARIA</a:t>
                      </a:r>
                      <a:endParaRPr lang="en-US" sz="1800" b="1" kern="1200" dirty="0">
                        <a:solidFill>
                          <a:schemeClr val="dk1"/>
                        </a:solidFill>
                        <a:latin typeface="+mn-lt"/>
                        <a:ea typeface="+mn-ea"/>
                        <a:cs typeface="+mn-cs"/>
                      </a:endParaRPr>
                    </a:p>
                    <a:p>
                      <a:pPr algn="ctr"/>
                      <a:r>
                        <a:rPr lang="en-US" sz="1800" kern="1200" dirty="0">
                          <a:solidFill>
                            <a:schemeClr val="dk1"/>
                          </a:solidFill>
                          <a:effectLst/>
                          <a:latin typeface="+mn-lt"/>
                          <a:ea typeface="+mn-ea"/>
                          <a:cs typeface="+mn-cs"/>
                        </a:rPr>
                        <a:t>Professor and Head of Department</a:t>
                      </a:r>
                      <a:endParaRPr lang="en-IN" dirty="0"/>
                    </a:p>
                  </a:txBody>
                  <a:tcPr/>
                </a:tc>
                <a:extLst>
                  <a:ext uri="{0D108BD9-81ED-4DB2-BD59-A6C34878D82A}">
                    <a16:rowId xmlns:a16="http://schemas.microsoft.com/office/drawing/2014/main" val="3136776559"/>
                  </a:ext>
                </a:extLst>
              </a:tr>
            </a:tbl>
          </a:graphicData>
        </a:graphic>
      </p:graphicFrame>
    </p:spTree>
    <p:extLst>
      <p:ext uri="{BB962C8B-B14F-4D97-AF65-F5344CB8AC3E}">
        <p14:creationId xmlns:p14="http://schemas.microsoft.com/office/powerpoint/2010/main" val="246299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08FD77-7414-C882-2719-DEB445BD5C0F}"/>
              </a:ext>
            </a:extLst>
          </p:cNvPr>
          <p:cNvSpPr txBox="1"/>
          <p:nvPr/>
        </p:nvSpPr>
        <p:spPr>
          <a:xfrm>
            <a:off x="0" y="1383949"/>
            <a:ext cx="6858000" cy="6459782"/>
          </a:xfrm>
          <a:prstGeom prst="rect">
            <a:avLst/>
          </a:prstGeom>
          <a:noFill/>
        </p:spPr>
        <p:txBody>
          <a:bodyPr wrap="square">
            <a:spAutoFit/>
          </a:bodyPr>
          <a:lstStyle/>
          <a:p>
            <a:pPr algn="ctr"/>
            <a:r>
              <a:rPr lang="en-US" sz="2800" b="1" u="sng" dirty="0">
                <a:solidFill>
                  <a:srgbClr val="000000"/>
                </a:solidFill>
                <a:ea typeface="Calibri" panose="020F0502020204030204" pitchFamily="34" charset="0"/>
              </a:rPr>
              <a:t>Cover Letter</a:t>
            </a:r>
            <a:endParaRPr lang="en-IN" sz="2800" dirty="0">
              <a:solidFill>
                <a:srgbClr val="000000"/>
              </a:solidFill>
              <a:ea typeface="Calibri" panose="020F0502020204030204" pitchFamily="34" charset="0"/>
            </a:endParaRPr>
          </a:p>
          <a:p>
            <a:pPr algn="ctr"/>
            <a:r>
              <a:rPr lang="en-US" sz="3600" b="1" dirty="0">
                <a:solidFill>
                  <a:srgbClr val="000000"/>
                </a:solidFill>
                <a:latin typeface="Calibri" panose="020F0502020204030204" pitchFamily="34" charset="0"/>
                <a:ea typeface="Calibri" panose="020F0502020204030204" pitchFamily="34" charset="0"/>
              </a:rPr>
              <a:t> </a:t>
            </a:r>
            <a:endParaRPr lang="en-IN" sz="1400" dirty="0">
              <a:solidFill>
                <a:srgbClr val="000000"/>
              </a:solidFill>
              <a:latin typeface="Calibri" panose="020F0502020204030204" pitchFamily="34" charset="0"/>
              <a:ea typeface="Calibri" panose="020F0502020204030204" pitchFamily="34" charset="0"/>
            </a:endParaRPr>
          </a:p>
          <a:p>
            <a:r>
              <a:rPr lang="en-US" sz="2200" dirty="0">
                <a:solidFill>
                  <a:srgbClr val="000000"/>
                </a:solidFill>
                <a:ea typeface="Calibri" panose="020F0502020204030204" pitchFamily="34" charset="0"/>
              </a:rPr>
              <a:t>Respected sir,</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I would like to register my thesis title,</a:t>
            </a:r>
            <a:endParaRPr lang="en-IN" sz="2200" dirty="0">
              <a:solidFill>
                <a:srgbClr val="000000"/>
              </a:solidFill>
              <a:ea typeface="Calibri" panose="020F0502020204030204" pitchFamily="34" charset="0"/>
            </a:endParaRPr>
          </a:p>
          <a:p>
            <a:pPr algn="ctr"/>
            <a:r>
              <a:rPr lang="en-US" b="1" dirty="0">
                <a:solidFill>
                  <a:srgbClr val="000000"/>
                </a:solidFill>
                <a:latin typeface="Calibri" panose="020F0502020204030204" pitchFamily="34" charset="0"/>
                <a:ea typeface="Calibri" panose="020F0502020204030204" pitchFamily="34" charset="0"/>
              </a:rPr>
              <a:t> </a:t>
            </a:r>
            <a:endParaRPr lang="en-IN" sz="1400" dirty="0">
              <a:solidFill>
                <a:srgbClr val="000000"/>
              </a:solidFill>
              <a:latin typeface="Calibri" panose="020F0502020204030204" pitchFamily="34" charset="0"/>
              <a:ea typeface="Calibri" panose="020F0502020204030204" pitchFamily="34" charset="0"/>
            </a:endParaRPr>
          </a:p>
          <a:p>
            <a:pPr algn="ctr">
              <a:lnSpc>
                <a:spcPct val="107000"/>
              </a:lnSpc>
              <a:spcAft>
                <a:spcPts val="800"/>
              </a:spcAft>
            </a:pPr>
            <a:r>
              <a:rPr lang="en-IN" sz="2400" b="1" dirty="0"/>
              <a:t>“</a:t>
            </a:r>
            <a:r>
              <a:rPr lang="en-IN" sz="2400" b="1" u="sng" dirty="0"/>
              <a:t>Comparison Of Surgically Induced Astigmatism In Manual Small Incision Cataract Surgery Following Straight Vs Frown Shaped Incision</a:t>
            </a:r>
            <a:r>
              <a:rPr lang="en-IN" sz="2400" b="1" dirty="0"/>
              <a:t>”</a:t>
            </a:r>
          </a:p>
          <a:p>
            <a:pPr algn="ctr">
              <a:lnSpc>
                <a:spcPct val="107000"/>
              </a:lnSpc>
              <a:spcAft>
                <a:spcPts val="800"/>
              </a:spcAft>
            </a:pPr>
            <a:r>
              <a:rPr lang="en-IN" sz="2000" b="1" dirty="0">
                <a:solidFill>
                  <a:srgbClr val="000000"/>
                </a:solidFill>
                <a:latin typeface="Calibri" panose="020F0502020204030204" pitchFamily="34" charset="0"/>
                <a:ea typeface="Times New Roman" panose="02020603050405020304" pitchFamily="18" charset="0"/>
                <a:cs typeface="Calibri" panose="020F0502020204030204" pitchFamily="34" charset="0"/>
              </a:rPr>
              <a:t> </a:t>
            </a:r>
            <a:endParaRPr lang="en-IN" sz="1400" dirty="0">
              <a:solidFill>
                <a:srgbClr val="000000"/>
              </a:solidFill>
              <a:latin typeface="Calibri" panose="020F0502020204030204" pitchFamily="34" charset="0"/>
              <a:ea typeface="Calibri" panose="020F0502020204030204" pitchFamily="34" charset="0"/>
            </a:endParaRPr>
          </a:p>
          <a:p>
            <a:r>
              <a:rPr lang="en-US" sz="2200" dirty="0">
                <a:solidFill>
                  <a:srgbClr val="000000"/>
                </a:solidFill>
                <a:ea typeface="Calibri" panose="020F0502020204030204" pitchFamily="34" charset="0"/>
              </a:rPr>
              <a:t>For the M.S. Ophthalmology Examination of PACIFIC INSTITUTE OF MEDICAL SCIENCES to be held in year 2026.</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 </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Thanking you,</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Yours sincerely,</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Dr. SHASHI GUPTA</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Date:</a:t>
            </a:r>
            <a:endParaRPr lang="en-IN" sz="2200" dirty="0">
              <a:solidFill>
                <a:srgbClr val="000000"/>
              </a:solidFill>
              <a:ea typeface="Calibri" panose="020F0502020204030204" pitchFamily="34" charset="0"/>
            </a:endParaRPr>
          </a:p>
          <a:p>
            <a:r>
              <a:rPr lang="en-US" sz="2200" dirty="0">
                <a:solidFill>
                  <a:srgbClr val="000000"/>
                </a:solidFill>
                <a:ea typeface="Calibri" panose="020F0502020204030204" pitchFamily="34" charset="0"/>
              </a:rPr>
              <a:t>Place: Udaipur, Rajasthan</a:t>
            </a:r>
            <a:endParaRPr lang="en-IN" sz="2200" dirty="0">
              <a:solidFill>
                <a:srgbClr val="000000"/>
              </a:solidFill>
              <a:ea typeface="Calibri" panose="020F0502020204030204" pitchFamily="34" charset="0"/>
            </a:endParaRPr>
          </a:p>
        </p:txBody>
      </p:sp>
    </p:spTree>
    <p:extLst>
      <p:ext uri="{BB962C8B-B14F-4D97-AF65-F5344CB8AC3E}">
        <p14:creationId xmlns:p14="http://schemas.microsoft.com/office/powerpoint/2010/main" val="3403948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285984"/>
            <a:ext cx="6741368" cy="5416868"/>
          </a:xfrm>
          <a:prstGeom prst="rect">
            <a:avLst/>
          </a:prstGeom>
          <a:noFill/>
        </p:spPr>
        <p:txBody>
          <a:bodyPr wrap="square" rtlCol="0">
            <a:spAutoFit/>
          </a:bodyPr>
          <a:lstStyle/>
          <a:p>
            <a:pPr marL="457200" indent="-457200">
              <a:buFont typeface="Arial" pitchFamily="34" charset="0"/>
              <a:buChar char="•"/>
            </a:pPr>
            <a:r>
              <a:rPr lang="en-US" dirty="0"/>
              <a:t>Astigmatism is a refractive condition where the eye's </a:t>
            </a:r>
            <a:r>
              <a:rPr lang="en-US" dirty="0" err="1"/>
              <a:t>dioptric</a:t>
            </a:r>
            <a:r>
              <a:rPr lang="en-US" dirty="0"/>
              <a:t> system unequally refracts incident light in different meridians, preventing a single point of light from focusing on the retina and instead forming focal lines</a:t>
            </a:r>
            <a:r>
              <a:rPr lang="en-US" baseline="30000" dirty="0"/>
              <a:t>1</a:t>
            </a:r>
            <a:r>
              <a:rPr lang="en-US" dirty="0"/>
              <a:t>.</a:t>
            </a:r>
          </a:p>
          <a:p>
            <a:pPr marL="457200" indent="-457200">
              <a:buFont typeface="Arial" pitchFamily="34" charset="0"/>
              <a:buChar char="•"/>
            </a:pPr>
            <a:r>
              <a:rPr lang="en-US" dirty="0"/>
              <a:t>The prevalence of astigmatism changes with age:</a:t>
            </a:r>
          </a:p>
          <a:p>
            <a:pPr marL="457200" indent="-457200">
              <a:buFont typeface="Arial" pitchFamily="34" charset="0"/>
              <a:buChar char="•"/>
            </a:pPr>
            <a:r>
              <a:rPr lang="en-US" dirty="0"/>
              <a:t>In the first few months of life, infants often show a high prevalence of high (6D average) Against-the-Rule (ATR) corneal astigmatism</a:t>
            </a:r>
            <a:r>
              <a:rPr lang="en-US" baseline="30000" dirty="0"/>
              <a:t>2</a:t>
            </a:r>
            <a:r>
              <a:rPr lang="en-US" dirty="0"/>
              <a:t>. The steepest corneas with the most astigmatism are observed in newborns with the lowest birth weight and lowest post-conceptual age</a:t>
            </a:r>
            <a:r>
              <a:rPr lang="en-US" baseline="30000" dirty="0"/>
              <a:t>3</a:t>
            </a:r>
            <a:r>
              <a:rPr lang="en-US" dirty="0"/>
              <a:t>.</a:t>
            </a:r>
          </a:p>
          <a:p>
            <a:pPr marL="457200" indent="-457200">
              <a:buFont typeface="Arial" pitchFamily="34" charset="0"/>
              <a:buChar char="•"/>
            </a:pPr>
            <a:r>
              <a:rPr lang="en-US" dirty="0"/>
              <a:t>As infants grow, </a:t>
            </a:r>
            <a:r>
              <a:rPr lang="en-US" dirty="0" err="1"/>
              <a:t>emmetropization</a:t>
            </a:r>
            <a:r>
              <a:rPr lang="en-US" dirty="0"/>
              <a:t> of astigmatism occurs</a:t>
            </a:r>
            <a:r>
              <a:rPr lang="en-US" baseline="30000" dirty="0"/>
              <a:t>4</a:t>
            </a:r>
            <a:r>
              <a:rPr lang="en-US" dirty="0"/>
              <a:t>.</a:t>
            </a:r>
          </a:p>
          <a:p>
            <a:pPr marL="457200" indent="-457200">
              <a:buFont typeface="Arial" pitchFamily="34" charset="0"/>
              <a:buChar char="•"/>
            </a:pPr>
            <a:r>
              <a:rPr lang="en-US" dirty="0"/>
              <a:t>After four years of age, astigmatism typically shifts to low levels of With-the-Rule (WTR), with pressure from eyelids on the cornea over time suggested as a contributing cause</a:t>
            </a:r>
            <a:r>
              <a:rPr lang="en-US" baseline="30000" dirty="0"/>
              <a:t>5</a:t>
            </a:r>
            <a:r>
              <a:rPr lang="en-US" dirty="0"/>
              <a:t>.</a:t>
            </a:r>
          </a:p>
          <a:p>
            <a:pPr marL="457200" indent="-457200">
              <a:buFont typeface="Arial" pitchFamily="34" charset="0"/>
              <a:buChar char="•"/>
            </a:pPr>
            <a:r>
              <a:rPr lang="en-US" dirty="0"/>
              <a:t>Children generally exhibit WTR astigmatism</a:t>
            </a:r>
            <a:r>
              <a:rPr lang="en-US" baseline="30000" dirty="0"/>
              <a:t>6</a:t>
            </a:r>
            <a:r>
              <a:rPr lang="en-US" dirty="0"/>
              <a:t>.</a:t>
            </a:r>
          </a:p>
          <a:p>
            <a:pPr marL="457200" indent="-457200">
              <a:buFont typeface="Arial" pitchFamily="34" charset="0"/>
              <a:buChar char="•"/>
            </a:pPr>
            <a:r>
              <a:rPr lang="en-US" dirty="0"/>
              <a:t>Young adults typically have small degrees of WTR astigmatism</a:t>
            </a:r>
            <a:r>
              <a:rPr lang="en-US" baseline="30000" dirty="0"/>
              <a:t>7</a:t>
            </a:r>
            <a:r>
              <a:rPr lang="en-US" dirty="0"/>
              <a:t>.</a:t>
            </a:r>
          </a:p>
          <a:p>
            <a:pPr marL="457200" indent="-457200">
              <a:buFont typeface="Arial" pitchFamily="34" charset="0"/>
              <a:buChar char="•"/>
            </a:pPr>
            <a:r>
              <a:rPr lang="en-US" dirty="0"/>
              <a:t>In older adults, a shift occurs, and ATR astigmatism becomes more prevalent</a:t>
            </a:r>
            <a:r>
              <a:rPr lang="en-US" baseline="30000" dirty="0"/>
              <a:t>8</a:t>
            </a:r>
            <a:r>
              <a:rPr lang="en-US" dirty="0"/>
              <a:t>.</a:t>
            </a:r>
          </a:p>
          <a:p>
            <a:pPr algn="ctr"/>
            <a:endParaRPr lang="en-IN" sz="2200" dirty="0">
              <a:latin typeface="Times New Roman" panose="02020603050405020304" pitchFamily="18" charset="0"/>
              <a:ea typeface="Times New Roman" panose="02020603050405020304" pitchFamily="18" charset="0"/>
            </a:endParaRPr>
          </a:p>
        </p:txBody>
      </p:sp>
      <p:sp>
        <p:nvSpPr>
          <p:cNvPr id="4" name="TextBox 3"/>
          <p:cNvSpPr txBox="1"/>
          <p:nvPr/>
        </p:nvSpPr>
        <p:spPr>
          <a:xfrm>
            <a:off x="2000240" y="1357291"/>
            <a:ext cx="3214710" cy="646331"/>
          </a:xfrm>
          <a:prstGeom prst="rect">
            <a:avLst/>
          </a:prstGeom>
          <a:noFill/>
        </p:spPr>
        <p:txBody>
          <a:bodyPr wrap="square" rtlCol="0">
            <a:spAutoFit/>
          </a:bodyPr>
          <a:lstStyle/>
          <a:p>
            <a:r>
              <a:rPr lang="en-US" sz="3600" b="1" u="sng" dirty="0"/>
              <a:t>INTRODUCTION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357291"/>
            <a:ext cx="6741368" cy="1477328"/>
          </a:xfrm>
          <a:prstGeom prst="rect">
            <a:avLst/>
          </a:prstGeom>
          <a:noFill/>
        </p:spPr>
        <p:txBody>
          <a:bodyPr wrap="square" rtlCol="0">
            <a:spAutoFit/>
          </a:bodyPr>
          <a:lstStyle/>
          <a:p>
            <a:pPr marL="457200" indent="-457200">
              <a:buFont typeface="Arial" pitchFamily="34" charset="0"/>
              <a:buChar char="•"/>
            </a:pPr>
            <a:r>
              <a:rPr lang="en-US" dirty="0"/>
              <a:t>Research indicates that 15-29% of cataract patients have more than 1.5 D of pre-existing astigmatism</a:t>
            </a:r>
            <a:r>
              <a:rPr lang="en-US" baseline="30000" dirty="0"/>
              <a:t>9</a:t>
            </a:r>
            <a:r>
              <a:rPr lang="en-US" dirty="0"/>
              <a:t>. Within the general cataract population, approximately 10% of patients have astigmatism greater than 2 D of cylinder, 20% have between 1 and 2 D, and 70% have less than 1 D</a:t>
            </a:r>
            <a:r>
              <a:rPr lang="en-US" baseline="30000" dirty="0"/>
              <a:t>10</a:t>
            </a:r>
            <a:r>
              <a:rPr lang="en-US" dirty="0"/>
              <a:t>.</a:t>
            </a:r>
          </a:p>
        </p:txBody>
      </p:sp>
      <p:sp>
        <p:nvSpPr>
          <p:cNvPr id="3" name="Rectangle 2"/>
          <p:cNvSpPr/>
          <p:nvPr/>
        </p:nvSpPr>
        <p:spPr>
          <a:xfrm>
            <a:off x="332656" y="2987824"/>
            <a:ext cx="6408712" cy="5632311"/>
          </a:xfrm>
          <a:prstGeom prst="rect">
            <a:avLst/>
          </a:prstGeom>
        </p:spPr>
        <p:txBody>
          <a:bodyPr wrap="square">
            <a:spAutoFit/>
          </a:bodyPr>
          <a:lstStyle/>
          <a:p>
            <a:r>
              <a:rPr lang="en-US" dirty="0"/>
              <a:t>Effects of astigmatism on vision Astigmatism induces distortion of image. The retinal image is distorted because of a differential magnification in the two principal meridians. There is 0.3% image distortion per </a:t>
            </a:r>
            <a:r>
              <a:rPr lang="en-US" dirty="0" err="1"/>
              <a:t>diopter</a:t>
            </a:r>
            <a:r>
              <a:rPr lang="en-US" dirty="0"/>
              <a:t> of astigmatism. [7] In WTR astigmatism, the power of weaker principal meridian produces a vertical line focus. In printed matter the vertical strokes of the letter are more important for recognition for example b, d, h, also there is less space between letters than between lines. Hence it is useful to have a better focus in vertical meridian as is there in myopic WTR astigmatism, resulting in better Smelled visual acuity. Another benefit of WTR astigmatism is that less cylinder is required in spectacle correction than ATR astigmatism of same magnitude. In corrected, astigmatic eye, retinal image distortion arises due to unequal spectacle magnification in the two principal meridians, representing 1.6% distortion per </a:t>
            </a:r>
            <a:r>
              <a:rPr lang="en-US" dirty="0" err="1"/>
              <a:t>diopter</a:t>
            </a:r>
            <a:r>
              <a:rPr lang="en-US" dirty="0"/>
              <a:t> cylinder correction. More over spectacle cylinder will be less than the ocular astigmatism when the spherical equivalent is positive and greater than the ocular astigmatism when spherical equivalent is negative. So in general myopic ATR astigmatism will result in proportionally larger spectacle correction, which will produce more distortion.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632" y="1285852"/>
            <a:ext cx="6624736" cy="7571303"/>
          </a:xfrm>
          <a:prstGeom prst="rect">
            <a:avLst/>
          </a:prstGeom>
        </p:spPr>
        <p:txBody>
          <a:bodyPr wrap="square">
            <a:spAutoFit/>
          </a:bodyPr>
          <a:lstStyle/>
          <a:p>
            <a:r>
              <a:rPr lang="en-US" dirty="0"/>
              <a:t>Certain degree of myopic astigmatism is useful as it may produce a situation of pseudo-accommodation in a </a:t>
            </a:r>
            <a:r>
              <a:rPr lang="en-US" dirty="0" err="1"/>
              <a:t>pseudophakic</a:t>
            </a:r>
            <a:r>
              <a:rPr lang="en-US" dirty="0"/>
              <a:t> patient. [8] Uncorrected astigmatism causes blurred image, glare, monocular diplopic. Even with appropriate spectacle correction the </a:t>
            </a:r>
            <a:r>
              <a:rPr lang="en-US" dirty="0" err="1"/>
              <a:t>meridional</a:t>
            </a:r>
            <a:r>
              <a:rPr lang="en-US" dirty="0"/>
              <a:t> magnification may create distortion. The patients having preoperative astigmatism may experience difficulty adapting to axis shift induced by surgery. Any of these effects may create not only dissatisfaction with visual outcome, but also discomfort with an otherwise uneventful surgery. Manual Small Incision Cataract Surgery [9] Manual SICS is a self sealing cataract surgery due to the sclera-corneal tunnel construction. Lower cost of instrumentation and disposables in manual SICS is an added advantage. [10, 11] It is also better suited for advanced and mature cataracts seen in developing countries. [12]In this incision the internal incision in the anterior chamber is remote from the external sclera incision and the two are connected together by a sclera corneal tunnel. When the internal pressure of the eye is </a:t>
            </a:r>
            <a:r>
              <a:rPr lang="en-US" dirty="0" err="1"/>
              <a:t>reestablished</a:t>
            </a:r>
            <a:r>
              <a:rPr lang="en-US" dirty="0"/>
              <a:t>, the high intraocular pressure (IOP), compared to the lower atmospheric pressure causes the tunnel to collapse and self seal. The various incisions which are used in manual SICS vary according to their site, dimensions, design and architecture. The site of incision can be superior or super temporal or temporal. The dimensions of the incision can vary from a 3.5mm to a 6mm or longer in case of rigid IOLs. Other factors which affect incision size are; Type of intraocular lens – incision size is small for foldable IOLs and large for rigid IOLs. (PMMA). Type of cataract – incision size will be larger for hard brown cataract Technique of nucleus delivery – small incision size is enough if nucleus is divided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648" y="1571606"/>
            <a:ext cx="6480720" cy="2862322"/>
          </a:xfrm>
          <a:prstGeom prst="rect">
            <a:avLst/>
          </a:prstGeom>
        </p:spPr>
        <p:txBody>
          <a:bodyPr wrap="square">
            <a:spAutoFit/>
          </a:bodyPr>
          <a:lstStyle/>
          <a:p>
            <a:r>
              <a:rPr lang="en-US" dirty="0"/>
              <a:t>In anterior chamber and removed in two pieces. Skill of the surgeon. Design of the wound – in the wound design, the internal incision is always larger than the external, giving the shape of a funnel to the wound. The inner lip of the wound normally has a width of 8 to 9 mm. The various shapes of incisions in use for manual SICS are; Horizontal incision or straight incision Frown shaped incision Chevron incision Smile incision Horizontal incision with straight backwards extension Horizontal incision with backward extensions perpendicular to the </a:t>
            </a:r>
            <a:r>
              <a:rPr lang="en-US" dirty="0" err="1"/>
              <a:t>limbus</a:t>
            </a:r>
            <a:r>
              <a:rPr lang="en-US" dirty="0"/>
              <a:t> (Blumenthal technique)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CF69CE-6C9F-4232-F4DE-77888372432C}"/>
              </a:ext>
            </a:extLst>
          </p:cNvPr>
          <p:cNvSpPr txBox="1"/>
          <p:nvPr/>
        </p:nvSpPr>
        <p:spPr>
          <a:xfrm>
            <a:off x="116632" y="2463731"/>
            <a:ext cx="6624736" cy="3908762"/>
          </a:xfrm>
          <a:prstGeom prst="rect">
            <a:avLst/>
          </a:prstGeom>
          <a:noFill/>
        </p:spPr>
        <p:txBody>
          <a:bodyPr wrap="square">
            <a:spAutoFit/>
          </a:bodyPr>
          <a:lstStyle/>
          <a:p>
            <a:pPr algn="ctr"/>
            <a:r>
              <a:rPr lang="en-US" sz="2800" b="1" u="sng" dirty="0"/>
              <a:t>AIM AND OBJECTIVES</a:t>
            </a:r>
            <a:r>
              <a:rPr lang="en-US" sz="2800" b="1" dirty="0"/>
              <a:t>:</a:t>
            </a:r>
            <a:endParaRPr lang="en-US" sz="2800" dirty="0"/>
          </a:p>
          <a:p>
            <a:r>
              <a:rPr lang="en-US" sz="2000" b="1" dirty="0"/>
              <a:t>  </a:t>
            </a:r>
            <a:endParaRPr lang="en-US" sz="2000" dirty="0"/>
          </a:p>
          <a:p>
            <a:r>
              <a:rPr lang="en-US" sz="2200" b="1" dirty="0"/>
              <a:t>AIM:</a:t>
            </a:r>
            <a:endParaRPr lang="en-US" sz="2200" dirty="0"/>
          </a:p>
          <a:p>
            <a:r>
              <a:rPr lang="en-US" sz="2200" b="1" dirty="0"/>
              <a:t>  </a:t>
            </a:r>
            <a:endParaRPr lang="en-US" sz="2200" dirty="0"/>
          </a:p>
          <a:p>
            <a:pPr marL="285750" indent="-285750">
              <a:buFont typeface="Arial" panose="020B0604020202020204" pitchFamily="34" charset="0"/>
              <a:buChar char="•"/>
            </a:pPr>
            <a:r>
              <a:rPr lang="en-US" dirty="0"/>
              <a:t>To compare the surgically induced corneal astigmatism in patients undergoing manual small incision cataract surgery by straight and frown incisions.</a:t>
            </a:r>
            <a:r>
              <a:rPr lang="en-US" b="1" dirty="0"/>
              <a:t> </a:t>
            </a:r>
          </a:p>
          <a:p>
            <a:endParaRPr lang="en-US" sz="2200" dirty="0"/>
          </a:p>
          <a:p>
            <a:r>
              <a:rPr lang="en-US" sz="2200" b="1" dirty="0"/>
              <a:t>OBJECTIVE:</a:t>
            </a:r>
            <a:endParaRPr lang="en-US" sz="2200" dirty="0"/>
          </a:p>
          <a:p>
            <a:r>
              <a:rPr lang="en-US" sz="2200" b="1" dirty="0"/>
              <a:t> </a:t>
            </a:r>
            <a:endParaRPr lang="en-US" sz="2200" dirty="0"/>
          </a:p>
          <a:p>
            <a:pPr marL="285750" indent="-285750">
              <a:buFont typeface="Arial" panose="020B0604020202020204" pitchFamily="34" charset="0"/>
              <a:buChar char="•"/>
            </a:pPr>
            <a:r>
              <a:rPr lang="en-US" dirty="0"/>
              <a:t>To assess whether the difference by the two techniques is statistically significant. </a:t>
            </a:r>
            <a:endParaRPr lang="en-IN"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239891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632" y="1322393"/>
            <a:ext cx="6624736" cy="6239913"/>
          </a:xfrm>
          <a:prstGeom prst="rect">
            <a:avLst/>
          </a:prstGeom>
          <a:noFill/>
        </p:spPr>
        <p:txBody>
          <a:bodyPr wrap="square" rtlCol="0">
            <a:spAutoFit/>
          </a:bodyPr>
          <a:lstStyle/>
          <a:p>
            <a:pPr algn="ctr"/>
            <a:r>
              <a:rPr lang="en-US" sz="2800" b="1" u="sng" dirty="0"/>
              <a:t>MATERIALS AND METHODS</a:t>
            </a:r>
            <a:r>
              <a:rPr lang="en-US" sz="2800" b="1" dirty="0"/>
              <a:t>:</a:t>
            </a:r>
          </a:p>
          <a:p>
            <a:endParaRPr lang="en-US" sz="2800" b="1" dirty="0"/>
          </a:p>
          <a:p>
            <a:pPr>
              <a:lnSpc>
                <a:spcPct val="107000"/>
              </a:lnSpc>
              <a:spcAft>
                <a:spcPts val="800"/>
              </a:spcAft>
            </a:pPr>
            <a:r>
              <a:rPr lang="en-US" dirty="0">
                <a:solidFill>
                  <a:srgbClr val="000000"/>
                </a:solidFill>
                <a:ea typeface="Calibri" panose="020F0502020204030204" pitchFamily="34" charset="0"/>
                <a:cs typeface="Calibri" panose="020F0502020204030204" pitchFamily="34" charset="0"/>
              </a:rPr>
              <a:t>This study will be conducted in the Department of Ophthalmology, Pacific Institute of Medical Sciences, </a:t>
            </a:r>
            <a:r>
              <a:rPr lang="en-US" dirty="0" err="1">
                <a:solidFill>
                  <a:srgbClr val="000000"/>
                </a:solidFill>
                <a:ea typeface="Calibri" panose="020F0502020204030204" pitchFamily="34" charset="0"/>
                <a:cs typeface="Calibri" panose="020F0502020204030204" pitchFamily="34" charset="0"/>
              </a:rPr>
              <a:t>Umarda</a:t>
            </a:r>
            <a:r>
              <a:rPr lang="en-US" dirty="0">
                <a:solidFill>
                  <a:srgbClr val="000000"/>
                </a:solidFill>
                <a:ea typeface="Calibri" panose="020F0502020204030204" pitchFamily="34" charset="0"/>
                <a:cs typeface="Calibri" panose="020F0502020204030204" pitchFamily="34" charset="0"/>
              </a:rPr>
              <a:t>, Udaipur</a:t>
            </a:r>
            <a:r>
              <a:rPr lang="en-US" dirty="0">
                <a:solidFill>
                  <a:srgbClr val="000000"/>
                </a:solidFill>
                <a:ea typeface="Calibri" panose="020F0502020204030204" pitchFamily="34" charset="0"/>
              </a:rPr>
              <a:t>.</a:t>
            </a:r>
          </a:p>
          <a:p>
            <a:pPr>
              <a:lnSpc>
                <a:spcPct val="107000"/>
              </a:lnSpc>
              <a:spcAft>
                <a:spcPts val="800"/>
              </a:spcAft>
            </a:pPr>
            <a:endParaRPr lang="en-US" sz="2200" dirty="0">
              <a:solidFill>
                <a:srgbClr val="333333"/>
              </a:solidFill>
              <a:latin typeface="+mj-lt"/>
            </a:endParaRPr>
          </a:p>
          <a:p>
            <a:pPr marL="285750" indent="-285750">
              <a:lnSpc>
                <a:spcPct val="107000"/>
              </a:lnSpc>
              <a:spcAft>
                <a:spcPts val="800"/>
              </a:spcAft>
              <a:buFont typeface="Arial" panose="020B0604020202020204" pitchFamily="34" charset="0"/>
              <a:buChar char="•"/>
            </a:pPr>
            <a:r>
              <a:rPr lang="en-US" sz="2200" b="1" dirty="0"/>
              <a:t>Study design- </a:t>
            </a:r>
            <a:r>
              <a:rPr lang="en-US" dirty="0"/>
              <a:t>1 year, prospective study.</a:t>
            </a:r>
            <a:endParaRPr lang="en-US" dirty="0">
              <a:solidFill>
                <a:srgbClr val="000000"/>
              </a:solidFill>
              <a:latin typeface="Calibri" panose="020F0502020204030204" pitchFamily="34" charset="0"/>
              <a:ea typeface="Calibri" panose="020F0502020204030204" pitchFamily="34" charset="0"/>
            </a:endParaRPr>
          </a:p>
          <a:p>
            <a:pPr marL="285750" indent="-285750">
              <a:lnSpc>
                <a:spcPct val="107000"/>
              </a:lnSpc>
              <a:spcAft>
                <a:spcPts val="800"/>
              </a:spcAft>
              <a:buFont typeface="Arial" panose="020B0604020202020204" pitchFamily="34" charset="0"/>
              <a:buChar char="•"/>
            </a:pPr>
            <a:endParaRPr lang="en-US" sz="2200" dirty="0"/>
          </a:p>
          <a:p>
            <a:pPr marL="285750" indent="-285750">
              <a:lnSpc>
                <a:spcPct val="107000"/>
              </a:lnSpc>
              <a:spcAft>
                <a:spcPts val="800"/>
              </a:spcAft>
              <a:buFont typeface="Arial" panose="020B0604020202020204" pitchFamily="34" charset="0"/>
              <a:buChar char="•"/>
            </a:pPr>
            <a:r>
              <a:rPr lang="en-US" sz="2200" b="1" dirty="0"/>
              <a:t>Site and place of study-</a:t>
            </a:r>
            <a:r>
              <a:rPr lang="en-US" sz="2200" dirty="0"/>
              <a:t> </a:t>
            </a:r>
            <a:r>
              <a:rPr lang="en-US" dirty="0">
                <a:solidFill>
                  <a:srgbClr val="000000"/>
                </a:solidFill>
                <a:latin typeface="Calibri" panose="020F0502020204030204" pitchFamily="34" charset="0"/>
                <a:ea typeface="Calibri" panose="020F0502020204030204" pitchFamily="34" charset="0"/>
              </a:rPr>
              <a:t>Department of Ophthalmology, Pacific Institute of Medical Sciences, Udaipur.</a:t>
            </a:r>
          </a:p>
          <a:p>
            <a:pPr>
              <a:lnSpc>
                <a:spcPct val="107000"/>
              </a:lnSpc>
              <a:spcAft>
                <a:spcPts val="800"/>
              </a:spcAft>
            </a:pPr>
            <a:endParaRPr lang="en-US" sz="2200" dirty="0"/>
          </a:p>
          <a:p>
            <a:pPr marL="285750" indent="-285750">
              <a:buFont typeface="Arial" panose="020B0604020202020204" pitchFamily="34" charset="0"/>
              <a:buChar char="•"/>
            </a:pPr>
            <a:r>
              <a:rPr lang="en-US" sz="2200" b="1" dirty="0"/>
              <a:t>Study type-</a:t>
            </a:r>
            <a:r>
              <a:rPr lang="en-US" sz="2200" dirty="0"/>
              <a:t> </a:t>
            </a:r>
            <a:r>
              <a:rPr lang="en-US" kern="0" dirty="0">
                <a:solidFill>
                  <a:srgbClr val="000000"/>
                </a:solidFill>
                <a:latin typeface="Calibri" panose="020F0502020204030204" pitchFamily="34" charset="0"/>
                <a:ea typeface="Calibri" panose="020F0502020204030204" pitchFamily="34" charset="0"/>
              </a:rPr>
              <a:t>This was a prospective study</a:t>
            </a:r>
            <a:r>
              <a:rPr lang="en-US" sz="2200" kern="0" dirty="0">
                <a:solidFill>
                  <a:srgbClr val="000000"/>
                </a:solidFill>
                <a:latin typeface="Calibri" panose="020F0502020204030204" pitchFamily="34" charset="0"/>
                <a:ea typeface="Calibri" panose="020F0502020204030204" pitchFamily="34" charset="0"/>
              </a:rPr>
              <a:t>.</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b="1" dirty="0"/>
              <a:t>Study duration-</a:t>
            </a:r>
            <a:r>
              <a:rPr lang="en-US" sz="2200" dirty="0"/>
              <a:t> </a:t>
            </a:r>
            <a:r>
              <a:rPr lang="en-US" dirty="0"/>
              <a:t>April 2025-September 2026</a:t>
            </a:r>
          </a:p>
          <a:p>
            <a:endParaRPr lang="en-US" sz="2200" dirty="0"/>
          </a:p>
          <a:p>
            <a:pPr marL="285750" indent="-285750">
              <a:buFont typeface="Arial" panose="020B0604020202020204" pitchFamily="34" charset="0"/>
              <a:buChar char="•"/>
            </a:pPr>
            <a:r>
              <a:rPr lang="en-IN" sz="2200" b="1" dirty="0"/>
              <a:t>Sample size(n) – </a:t>
            </a:r>
            <a:r>
              <a:rPr lang="en-US" dirty="0"/>
              <a:t>140 (62 patients in each group). Group A: MSICS (Frown Incision) Group B: MSICS (Straight Incision)</a:t>
            </a:r>
            <a:endParaRPr lang="en-IN"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0648" y="2643175"/>
            <a:ext cx="6480719" cy="2862322"/>
          </a:xfrm>
          <a:prstGeom prst="rect">
            <a:avLst/>
          </a:prstGeom>
          <a:noFill/>
        </p:spPr>
        <p:txBody>
          <a:bodyPr wrap="square" rtlCol="0">
            <a:spAutoFit/>
          </a:bodyPr>
          <a:lstStyle/>
          <a:p>
            <a:r>
              <a:rPr lang="en-US" dirty="0"/>
              <a:t>Sample Size Calculation Formula = [2 × (Z</a:t>
            </a:r>
            <a:r>
              <a:rPr lang="el-GR" dirty="0"/>
              <a:t>α/2 + </a:t>
            </a:r>
            <a:r>
              <a:rPr lang="en-US" dirty="0"/>
              <a:t>Z</a:t>
            </a:r>
            <a:r>
              <a:rPr lang="el-GR" dirty="0"/>
              <a:t>β)² × σ²] / </a:t>
            </a:r>
            <a:r>
              <a:rPr lang="en-US" dirty="0"/>
              <a:t>d²Substitute values:</a:t>
            </a:r>
          </a:p>
          <a:p>
            <a:r>
              <a:rPr lang="en-US" dirty="0"/>
              <a:t>= 2 × (1.96 + 0.84)² × (0.89)² / (0.30)²= 10.88 × 138.60 / 0.09= 140</a:t>
            </a:r>
          </a:p>
          <a:p>
            <a:r>
              <a:rPr lang="en-US" dirty="0"/>
              <a:t>⸻</a:t>
            </a:r>
          </a:p>
          <a:p>
            <a:r>
              <a:rPr lang="en-US" dirty="0"/>
              <a:t>Notes:	</a:t>
            </a:r>
          </a:p>
          <a:p>
            <a:r>
              <a:rPr lang="en-US" dirty="0"/>
              <a:t>•	Z</a:t>
            </a:r>
            <a:r>
              <a:rPr lang="el-GR" dirty="0"/>
              <a:t>α/2 = </a:t>
            </a:r>
            <a:r>
              <a:rPr lang="en-US" dirty="0"/>
              <a:t>Type I Error (5%) → Z = 1.96	</a:t>
            </a:r>
          </a:p>
          <a:p>
            <a:r>
              <a:rPr lang="en-US" dirty="0"/>
              <a:t>•	Z</a:t>
            </a:r>
            <a:r>
              <a:rPr lang="el-GR" dirty="0"/>
              <a:t>β = </a:t>
            </a:r>
            <a:r>
              <a:rPr lang="en-US" dirty="0"/>
              <a:t>Type II Error (20%) → Z = 0.84	</a:t>
            </a:r>
          </a:p>
          <a:p>
            <a:r>
              <a:rPr lang="en-US" dirty="0"/>
              <a:t>•	</a:t>
            </a:r>
            <a:r>
              <a:rPr lang="el-GR" dirty="0"/>
              <a:t>σ (</a:t>
            </a:r>
            <a:r>
              <a:rPr lang="en-US" dirty="0"/>
              <a:t>sigma) = Standard deviation = 0.89	</a:t>
            </a:r>
          </a:p>
          <a:p>
            <a:r>
              <a:rPr lang="en-US" dirty="0"/>
              <a:t>•	</a:t>
            </a:r>
          </a:p>
          <a:p>
            <a:r>
              <a:rPr lang="en-US" dirty="0"/>
              <a:t>d = Margin of Error (</a:t>
            </a:r>
            <a:r>
              <a:rPr lang="el-GR" dirty="0"/>
              <a:t>μ₁ - μ₂) = 0.30</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632" y="1115616"/>
            <a:ext cx="6624736" cy="4401205"/>
          </a:xfrm>
          <a:prstGeom prst="rect">
            <a:avLst/>
          </a:prstGeom>
          <a:noFill/>
        </p:spPr>
        <p:txBody>
          <a:bodyPr wrap="square" rtlCol="0">
            <a:spAutoFit/>
          </a:bodyPr>
          <a:lstStyle/>
          <a:p>
            <a:pPr algn="ctr"/>
            <a:r>
              <a:rPr lang="en-US" sz="2400" b="1" dirty="0"/>
              <a:t>INCLUSION CRITERIA:</a:t>
            </a:r>
          </a:p>
          <a:p>
            <a:endParaRPr lang="en-US" sz="2000" dirty="0"/>
          </a:p>
          <a:p>
            <a:r>
              <a:rPr lang="en-US" sz="2000" b="1" dirty="0"/>
              <a:t>Inclusion Criteria:</a:t>
            </a:r>
            <a:endParaRPr lang="en-US" sz="2000" dirty="0"/>
          </a:p>
          <a:p>
            <a:pPr>
              <a:buFont typeface="Arial" pitchFamily="34" charset="0"/>
              <a:buChar char="•"/>
            </a:pPr>
            <a:r>
              <a:rPr lang="en-US" dirty="0"/>
              <a:t>Patients between 40-70 years of age</a:t>
            </a:r>
            <a:r>
              <a:rPr lang="en-US" baseline="30000" dirty="0"/>
              <a:t>1</a:t>
            </a:r>
            <a:r>
              <a:rPr lang="en-US" dirty="0"/>
              <a:t>.</a:t>
            </a:r>
          </a:p>
          <a:p>
            <a:pPr>
              <a:buFont typeface="Arial" pitchFamily="34" charset="0"/>
              <a:buChar char="•"/>
            </a:pPr>
            <a:r>
              <a:rPr lang="en-US" dirty="0"/>
              <a:t>Patients with uncomplicated Cataract Sx</a:t>
            </a:r>
            <a:r>
              <a:rPr lang="en-US" baseline="30000" dirty="0"/>
              <a:t>2</a:t>
            </a:r>
            <a:r>
              <a:rPr lang="en-US" dirty="0"/>
              <a:t>.</a:t>
            </a:r>
          </a:p>
          <a:p>
            <a:pPr>
              <a:buFont typeface="Arial" pitchFamily="34" charset="0"/>
              <a:buChar char="•"/>
            </a:pPr>
            <a:r>
              <a:rPr lang="en-US" dirty="0"/>
              <a:t>Patients who completed all necessary investigations during the 3-month follow-up period</a:t>
            </a:r>
            <a:r>
              <a:rPr lang="en-US" baseline="30000" dirty="0"/>
              <a:t>3</a:t>
            </a:r>
            <a:r>
              <a:rPr lang="en-US" dirty="0"/>
              <a:t>.</a:t>
            </a:r>
          </a:p>
          <a:p>
            <a:pPr>
              <a:buFont typeface="Arial" pitchFamily="34" charset="0"/>
              <a:buChar char="•"/>
            </a:pPr>
            <a:r>
              <a:rPr lang="en-US" dirty="0"/>
              <a:t>Pre-operative evaluation included Name, Age, Sex, Visual acuity, Anterior Segment examination, Intraocular Pressure (IOP) using a </a:t>
            </a:r>
            <a:r>
              <a:rPr lang="en-US" dirty="0" err="1"/>
              <a:t>Schiotz</a:t>
            </a:r>
            <a:r>
              <a:rPr lang="en-US" dirty="0"/>
              <a:t> indentation </a:t>
            </a:r>
            <a:r>
              <a:rPr lang="en-US" dirty="0" err="1"/>
              <a:t>tonometer</a:t>
            </a:r>
            <a:r>
              <a:rPr lang="en-US" dirty="0"/>
              <a:t>, and </a:t>
            </a:r>
            <a:r>
              <a:rPr lang="en-US" dirty="0" err="1"/>
              <a:t>Fundus</a:t>
            </a:r>
            <a:r>
              <a:rPr lang="en-US" dirty="0"/>
              <a:t> examination using 90 D lenses with slit lamp biomicroscopy</a:t>
            </a:r>
            <a:r>
              <a:rPr lang="en-US" baseline="30000" dirty="0"/>
              <a:t>12</a:t>
            </a:r>
            <a:r>
              <a:rPr lang="en-US" dirty="0"/>
              <a:t>.</a:t>
            </a:r>
          </a:p>
          <a:p>
            <a:pPr>
              <a:buFont typeface="Arial" pitchFamily="34" charset="0"/>
              <a:buChar char="•"/>
            </a:pPr>
            <a:r>
              <a:rPr lang="en-US" dirty="0"/>
              <a:t>Corneal astigmatism was measured by </a:t>
            </a:r>
            <a:r>
              <a:rPr lang="en-US" dirty="0" err="1"/>
              <a:t>autokeratometer</a:t>
            </a:r>
            <a:r>
              <a:rPr lang="en-US" dirty="0"/>
              <a:t> (Bausch &amp; Lomb), recording KH (Horizontal), KV (Vertical), and axis</a:t>
            </a:r>
            <a:r>
              <a:rPr lang="en-US" baseline="30000" dirty="0"/>
              <a:t>13</a:t>
            </a:r>
            <a:r>
              <a:rPr lang="en-US" dirty="0"/>
              <a:t>.</a:t>
            </a:r>
          </a:p>
          <a:p>
            <a:pPr>
              <a:buFont typeface="Arial" pitchFamily="34" charset="0"/>
              <a:buChar char="•"/>
            </a:pPr>
            <a:r>
              <a:rPr lang="en-US" dirty="0"/>
              <a:t>Eyes were randomly (simple randomization) assigned to either of the two groups</a:t>
            </a:r>
            <a:r>
              <a:rPr lang="en-US" baseline="30000" dirty="0"/>
              <a:t>14</a:t>
            </a:r>
            <a:r>
              <a:rPr lang="en-US"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422DFD-C01B-BD1A-FA0E-D5B0CB8420B9}"/>
              </a:ext>
            </a:extLst>
          </p:cNvPr>
          <p:cNvSpPr txBox="1"/>
          <p:nvPr/>
        </p:nvSpPr>
        <p:spPr>
          <a:xfrm>
            <a:off x="44624" y="1729497"/>
            <a:ext cx="6768752" cy="3693319"/>
          </a:xfrm>
          <a:prstGeom prst="rect">
            <a:avLst/>
          </a:prstGeom>
          <a:noFill/>
        </p:spPr>
        <p:txBody>
          <a:bodyPr wrap="square">
            <a:spAutoFit/>
          </a:bodyPr>
          <a:lstStyle/>
          <a:p>
            <a:pPr algn="ctr"/>
            <a:r>
              <a:rPr lang="en-US" b="1" dirty="0"/>
              <a:t>EXCLUSION CRITERIA:</a:t>
            </a:r>
          </a:p>
          <a:p>
            <a:pPr lvl="0"/>
            <a:endParaRPr lang="en-US" dirty="0"/>
          </a:p>
          <a:p>
            <a:r>
              <a:rPr lang="en-US" b="1" dirty="0"/>
              <a:t>Exclusion Criteria:</a:t>
            </a:r>
            <a:endParaRPr lang="en-US" dirty="0"/>
          </a:p>
          <a:p>
            <a:pPr>
              <a:buFont typeface="Arial" pitchFamily="34" charset="0"/>
              <a:buChar char="•"/>
            </a:pPr>
            <a:r>
              <a:rPr lang="en-US" dirty="0"/>
              <a:t>Patients with a previous history of ocular trauma</a:t>
            </a:r>
            <a:r>
              <a:rPr lang="en-US" baseline="30000" dirty="0"/>
              <a:t>4</a:t>
            </a:r>
            <a:r>
              <a:rPr lang="en-US" dirty="0"/>
              <a:t>.</a:t>
            </a:r>
          </a:p>
          <a:p>
            <a:pPr>
              <a:buFont typeface="Arial" pitchFamily="34" charset="0"/>
              <a:buChar char="•"/>
            </a:pPr>
            <a:r>
              <a:rPr lang="en-US" dirty="0"/>
              <a:t>Patients with complicated cataract or congenital cataract</a:t>
            </a:r>
            <a:r>
              <a:rPr lang="en-US" baseline="30000" dirty="0"/>
              <a:t>5</a:t>
            </a:r>
            <a:r>
              <a:rPr lang="en-US" dirty="0"/>
              <a:t>.</a:t>
            </a:r>
          </a:p>
          <a:p>
            <a:pPr>
              <a:buFont typeface="Arial" pitchFamily="34" charset="0"/>
              <a:buChar char="•"/>
            </a:pPr>
            <a:r>
              <a:rPr lang="en-US" dirty="0"/>
              <a:t>Patients with immature cataract associated with other ocular diseases</a:t>
            </a:r>
            <a:r>
              <a:rPr lang="en-US" baseline="30000" dirty="0"/>
              <a:t>6</a:t>
            </a:r>
            <a:r>
              <a:rPr lang="en-US" dirty="0"/>
              <a:t>.</a:t>
            </a:r>
          </a:p>
          <a:p>
            <a:pPr>
              <a:buFont typeface="Arial" pitchFamily="34" charset="0"/>
              <a:buChar char="•"/>
            </a:pPr>
            <a:r>
              <a:rPr lang="en-US" dirty="0"/>
              <a:t>Patients with intra-operative and post-operative complications</a:t>
            </a:r>
            <a:r>
              <a:rPr lang="en-US" baseline="30000" dirty="0"/>
              <a:t>7</a:t>
            </a:r>
            <a:r>
              <a:rPr lang="en-US" dirty="0"/>
              <a:t>.</a:t>
            </a:r>
          </a:p>
          <a:p>
            <a:pPr>
              <a:buFont typeface="Arial" pitchFamily="34" charset="0"/>
              <a:buChar char="•"/>
            </a:pPr>
            <a:r>
              <a:rPr lang="en-US" dirty="0"/>
              <a:t>Patients with pre-operative irregular astigmatism</a:t>
            </a:r>
            <a:r>
              <a:rPr lang="en-US" baseline="30000" dirty="0"/>
              <a:t>8</a:t>
            </a:r>
            <a:r>
              <a:rPr lang="en-US" dirty="0"/>
              <a:t>.</a:t>
            </a:r>
          </a:p>
          <a:p>
            <a:pPr>
              <a:buFont typeface="Arial" pitchFamily="34" charset="0"/>
              <a:buChar char="•"/>
            </a:pPr>
            <a:r>
              <a:rPr lang="en-US" dirty="0"/>
              <a:t>Patients with associated glaucoma, corneal scarring or degeneration, </a:t>
            </a:r>
            <a:r>
              <a:rPr lang="en-US" dirty="0" err="1"/>
              <a:t>uveitis</a:t>
            </a:r>
            <a:r>
              <a:rPr lang="en-US" dirty="0"/>
              <a:t>, or previous intra-ocular surgeries</a:t>
            </a:r>
            <a:r>
              <a:rPr lang="en-US" baseline="30000" dirty="0"/>
              <a:t>9</a:t>
            </a:r>
            <a:r>
              <a:rPr lang="en-US" dirty="0"/>
              <a:t>.</a:t>
            </a:r>
          </a:p>
          <a:p>
            <a:pPr>
              <a:buFont typeface="Arial" pitchFamily="34" charset="0"/>
              <a:buChar char="•"/>
            </a:pPr>
            <a:r>
              <a:rPr lang="en-US" dirty="0"/>
              <a:t>Patients with against-the-rule/with the rule astigmatism</a:t>
            </a:r>
            <a:r>
              <a:rPr lang="en-US" baseline="30000" dirty="0"/>
              <a:t>10</a:t>
            </a:r>
            <a:r>
              <a:rPr lang="en-US" dirty="0"/>
              <a:t>.</a:t>
            </a:r>
          </a:p>
          <a:p>
            <a:endParaRPr lang="en-US" dirty="0"/>
          </a:p>
        </p:txBody>
      </p:sp>
    </p:spTree>
    <p:extLst>
      <p:ext uri="{BB962C8B-B14F-4D97-AF65-F5344CB8AC3E}">
        <p14:creationId xmlns:p14="http://schemas.microsoft.com/office/powerpoint/2010/main" val="340503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19CD92-8C66-2DE9-E664-AE05E467656D}"/>
              </a:ext>
            </a:extLst>
          </p:cNvPr>
          <p:cNvSpPr txBox="1"/>
          <p:nvPr/>
        </p:nvSpPr>
        <p:spPr>
          <a:xfrm>
            <a:off x="44624" y="1115617"/>
            <a:ext cx="6696744" cy="5376472"/>
          </a:xfrm>
          <a:prstGeom prst="rect">
            <a:avLst/>
          </a:prstGeom>
          <a:noFill/>
        </p:spPr>
        <p:txBody>
          <a:bodyPr wrap="square">
            <a:spAutoFit/>
          </a:bodyPr>
          <a:lstStyle/>
          <a:p>
            <a:pPr algn="ctr" fontAlgn="base">
              <a:lnSpc>
                <a:spcPct val="103000"/>
              </a:lnSpc>
              <a:spcAft>
                <a:spcPts val="95"/>
              </a:spcAft>
              <a:buClr>
                <a:srgbClr val="000000"/>
              </a:buClr>
              <a:buSzPts val="2200"/>
              <a:tabLst>
                <a:tab pos="228600" algn="l"/>
              </a:tabLst>
            </a:pPr>
            <a:r>
              <a:rPr lang="en-US" b="1" dirty="0"/>
              <a:t>PROCEDURE IN DETAIL:</a:t>
            </a:r>
          </a:p>
          <a:p>
            <a:endParaRPr lang="en-US" dirty="0"/>
          </a:p>
          <a:p>
            <a:pPr>
              <a:buFont typeface="Arial" pitchFamily="34" charset="0"/>
              <a:buChar char="•"/>
            </a:pPr>
            <a:r>
              <a:rPr lang="en-US" dirty="0"/>
              <a:t>A sample size of 140 eyes was used, subdivided randomly into two groups of 70 eyes each</a:t>
            </a:r>
            <a:r>
              <a:rPr lang="en-US" baseline="30000" dirty="0"/>
              <a:t>1</a:t>
            </a:r>
            <a:r>
              <a:rPr lang="en-US" dirty="0"/>
              <a:t>. Patients included had </a:t>
            </a:r>
            <a:r>
              <a:rPr lang="en-US" dirty="0" err="1"/>
              <a:t>keratometric</a:t>
            </a:r>
            <a:r>
              <a:rPr lang="en-US" dirty="0"/>
              <a:t> astigmatism of 1.5 D or less, good fixation, and cataracts up to grade 3 nuclear sclerosis</a:t>
            </a:r>
            <a:r>
              <a:rPr lang="en-US" baseline="30000" dirty="0"/>
              <a:t>2</a:t>
            </a:r>
            <a:r>
              <a:rPr lang="en-US" dirty="0"/>
              <a:t>. Higher grades of nuclear sclerosis were excluded to maintain uniformity in incision size and architecture</a:t>
            </a:r>
            <a:r>
              <a:rPr lang="en-US" baseline="30000" dirty="0"/>
              <a:t>3</a:t>
            </a:r>
            <a:r>
              <a:rPr lang="en-US" dirty="0"/>
              <a:t>.</a:t>
            </a:r>
          </a:p>
          <a:p>
            <a:pPr>
              <a:buFont typeface="Arial" pitchFamily="34" charset="0"/>
              <a:buChar char="•"/>
            </a:pPr>
            <a:r>
              <a:rPr lang="en-US" dirty="0"/>
              <a:t>All surgeries were performed under </a:t>
            </a:r>
            <a:r>
              <a:rPr lang="en-US" dirty="0" err="1"/>
              <a:t>peribulbar</a:t>
            </a:r>
            <a:r>
              <a:rPr lang="en-US" dirty="0"/>
              <a:t> anesthesia</a:t>
            </a:r>
            <a:r>
              <a:rPr lang="en-US" baseline="30000" dirty="0"/>
              <a:t>4</a:t>
            </a:r>
            <a:r>
              <a:rPr lang="en-US" dirty="0"/>
              <a:t>. Manual SICS with nucleus delivery utilized the irrigating </a:t>
            </a:r>
            <a:r>
              <a:rPr lang="en-US" dirty="0" err="1"/>
              <a:t>vectis</a:t>
            </a:r>
            <a:r>
              <a:rPr lang="en-US" dirty="0"/>
              <a:t> technique</a:t>
            </a:r>
            <a:r>
              <a:rPr lang="en-US" baseline="30000" dirty="0"/>
              <a:t>5</a:t>
            </a:r>
            <a:r>
              <a:rPr lang="en-US" dirty="0"/>
              <a:t>. The incision site was superior in both groups</a:t>
            </a:r>
            <a:r>
              <a:rPr lang="en-US" baseline="30000" dirty="0"/>
              <a:t>6</a:t>
            </a:r>
            <a:r>
              <a:rPr lang="en-US" dirty="0"/>
              <a:t>. A 6.0 mm, three-planer </a:t>
            </a:r>
            <a:r>
              <a:rPr lang="en-US" dirty="0" err="1"/>
              <a:t>scleral</a:t>
            </a:r>
            <a:r>
              <a:rPr lang="en-US" dirty="0"/>
              <a:t> incision, 1.5 mm from the </a:t>
            </a:r>
            <a:r>
              <a:rPr lang="en-US" dirty="0" err="1"/>
              <a:t>limbus</a:t>
            </a:r>
            <a:r>
              <a:rPr lang="en-US" dirty="0"/>
              <a:t>, was made with a 15-number Bard Parker blade</a:t>
            </a:r>
            <a:r>
              <a:rPr lang="en-US" baseline="30000" dirty="0"/>
              <a:t>7</a:t>
            </a:r>
            <a:r>
              <a:rPr lang="en-US" dirty="0"/>
              <a:t>.</a:t>
            </a:r>
          </a:p>
          <a:p>
            <a:pPr>
              <a:buFont typeface="Arial" pitchFamily="34" charset="0"/>
              <a:buChar char="•"/>
            </a:pPr>
            <a:r>
              <a:rPr lang="en-US" dirty="0"/>
              <a:t>For </a:t>
            </a:r>
            <a:r>
              <a:rPr lang="en-US" b="1" dirty="0"/>
              <a:t>Group B (straight incision)</a:t>
            </a:r>
            <a:r>
              <a:rPr lang="en-US" dirty="0"/>
              <a:t>, the incision was a straight line at the sclera, with its center point 1.5 mm behind the superior-most part of the cornea at the 90-degree (12 o’clock) position</a:t>
            </a:r>
            <a:r>
              <a:rPr lang="en-US" baseline="30000" dirty="0"/>
              <a:t>8</a:t>
            </a:r>
            <a:r>
              <a:rPr lang="en-US" dirty="0"/>
              <a:t>. For </a:t>
            </a:r>
            <a:r>
              <a:rPr lang="en-US" b="1" dirty="0"/>
              <a:t>Group A (frown incision)</a:t>
            </a:r>
            <a:r>
              <a:rPr lang="en-US" dirty="0"/>
              <a:t>, the incision was a frown pattern at the sclera, 6.0 mm in length, with its center point 1.5 mm from the limbus</a:t>
            </a:r>
            <a:r>
              <a:rPr lang="en-US" baseline="30000" dirty="0"/>
              <a:t>9</a:t>
            </a:r>
            <a:r>
              <a:rPr lang="en-US" dirty="0"/>
              <a:t>.</a:t>
            </a:r>
          </a:p>
          <a:p>
            <a:pPr marL="342900" indent="-342900">
              <a:buFont typeface="+mj-lt"/>
              <a:buAutoNum type="alphaLcParenR"/>
            </a:pPr>
            <a:endParaRPr lang="en-IN" dirty="0">
              <a:solidFill>
                <a:srgbClr val="000000"/>
              </a:solidFill>
              <a:latin typeface="Calibri" panose="020F0502020204030204" pitchFamily="34" charset="0"/>
              <a:ea typeface="Calibri" panose="020F0502020204030204" pitchFamily="34" charset="0"/>
            </a:endParaRPr>
          </a:p>
          <a:p>
            <a:pPr marL="342900" indent="-342900">
              <a:buFont typeface="+mj-lt"/>
              <a:buAutoNum type="alphaLcParenR"/>
            </a:pPr>
            <a:endParaRPr lang="en-IN" dirty="0"/>
          </a:p>
        </p:txBody>
      </p:sp>
    </p:spTree>
    <p:extLst>
      <p:ext uri="{BB962C8B-B14F-4D97-AF65-F5344CB8AC3E}">
        <p14:creationId xmlns:p14="http://schemas.microsoft.com/office/powerpoint/2010/main" val="2632925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640" y="251520"/>
            <a:ext cx="6552728" cy="8402300"/>
          </a:xfrm>
          <a:prstGeom prst="rect">
            <a:avLst/>
          </a:prstGeom>
        </p:spPr>
        <p:txBody>
          <a:bodyPr wrap="square">
            <a:spAutoFit/>
          </a:bodyPr>
          <a:lstStyle/>
          <a:p>
            <a:pPr>
              <a:buFont typeface="Arial" pitchFamily="34" charset="0"/>
              <a:buChar char="•"/>
            </a:pPr>
            <a:r>
              <a:rPr lang="en-US" dirty="0"/>
              <a:t>A funnel-shaped </a:t>
            </a:r>
            <a:r>
              <a:rPr lang="en-US" dirty="0" err="1"/>
              <a:t>sclerocorneal</a:t>
            </a:r>
            <a:r>
              <a:rPr lang="en-US" dirty="0"/>
              <a:t> pocket incision was created with a crescent knife</a:t>
            </a:r>
            <a:r>
              <a:rPr lang="en-US" baseline="30000" dirty="0"/>
              <a:t>10</a:t>
            </a:r>
            <a:r>
              <a:rPr lang="en-US" dirty="0"/>
              <a:t>. One side port was made 90 degrees to the right side of the </a:t>
            </a:r>
            <a:r>
              <a:rPr lang="en-US" dirty="0" err="1"/>
              <a:t>scleral</a:t>
            </a:r>
            <a:r>
              <a:rPr lang="en-US" dirty="0"/>
              <a:t> tunnel using a side port knife</a:t>
            </a:r>
            <a:r>
              <a:rPr lang="en-US" baseline="30000" dirty="0"/>
              <a:t>11</a:t>
            </a:r>
            <a:r>
              <a:rPr lang="en-US" dirty="0"/>
              <a:t>. The anterior chamber was filled with </a:t>
            </a:r>
            <a:r>
              <a:rPr lang="en-US" dirty="0" err="1"/>
              <a:t>Viscoelastic</a:t>
            </a:r>
            <a:r>
              <a:rPr lang="en-US" dirty="0"/>
              <a:t> solution (</a:t>
            </a:r>
            <a:r>
              <a:rPr lang="en-US" dirty="0" err="1"/>
              <a:t>Hydroxy</a:t>
            </a:r>
            <a:r>
              <a:rPr lang="en-US" dirty="0"/>
              <a:t> </a:t>
            </a:r>
            <a:r>
              <a:rPr lang="en-US" dirty="0" err="1"/>
              <a:t>Propyl</a:t>
            </a:r>
            <a:r>
              <a:rPr lang="en-US" dirty="0"/>
              <a:t> Methyl Cellulose 2%), and </a:t>
            </a:r>
            <a:r>
              <a:rPr lang="en-US" dirty="0" err="1"/>
              <a:t>capsulorrhexis</a:t>
            </a:r>
            <a:r>
              <a:rPr lang="en-US" dirty="0"/>
              <a:t> was performed with a </a:t>
            </a:r>
            <a:r>
              <a:rPr lang="en-US" dirty="0" err="1"/>
              <a:t>cystitome</a:t>
            </a:r>
            <a:r>
              <a:rPr lang="en-US" dirty="0"/>
              <a:t> made from a 26 gauge needle</a:t>
            </a:r>
            <a:r>
              <a:rPr lang="en-US" baseline="30000" dirty="0"/>
              <a:t>12</a:t>
            </a:r>
            <a:r>
              <a:rPr lang="en-US" dirty="0"/>
              <a:t>. A 2.8 mm angled </a:t>
            </a:r>
            <a:r>
              <a:rPr lang="en-US" dirty="0" err="1"/>
              <a:t>keratome</a:t>
            </a:r>
            <a:r>
              <a:rPr lang="en-US" dirty="0"/>
              <a:t> was used to enter the anterior chamber 1.5 mm into the clear cornea, creating a self-sealing corneal valve</a:t>
            </a:r>
            <a:r>
              <a:rPr lang="en-US" baseline="30000" dirty="0"/>
              <a:t>13</a:t>
            </a:r>
            <a:r>
              <a:rPr lang="en-US" dirty="0"/>
              <a:t>. The internal incision was then enlarged sideways to 8 mm</a:t>
            </a:r>
            <a:r>
              <a:rPr lang="en-US" baseline="30000" dirty="0"/>
              <a:t>14</a:t>
            </a:r>
            <a:r>
              <a:rPr lang="en-US" dirty="0"/>
              <a:t>.</a:t>
            </a:r>
          </a:p>
          <a:p>
            <a:pPr>
              <a:buFont typeface="Arial" pitchFamily="34" charset="0"/>
              <a:buChar char="•"/>
            </a:pPr>
            <a:r>
              <a:rPr lang="en-US" dirty="0" err="1"/>
              <a:t>Hydrodissection</a:t>
            </a:r>
            <a:r>
              <a:rPr lang="en-US" dirty="0"/>
              <a:t> and delineation were performed with Balanced Salt Solution (BSS)</a:t>
            </a:r>
            <a:r>
              <a:rPr lang="en-US" baseline="30000" dirty="0"/>
              <a:t>15</a:t>
            </a:r>
            <a:r>
              <a:rPr lang="en-US" dirty="0"/>
              <a:t>. Hydro-dissection continued until the upper pole of the nucleus prolapsed out of the capsular bag</a:t>
            </a:r>
            <a:r>
              <a:rPr lang="en-US" baseline="30000" dirty="0"/>
              <a:t>16</a:t>
            </a:r>
            <a:r>
              <a:rPr lang="en-US" dirty="0"/>
              <a:t>. Through the scleral tunnel, a wire </a:t>
            </a:r>
            <a:r>
              <a:rPr lang="en-US" dirty="0" err="1"/>
              <a:t>vectis</a:t>
            </a:r>
            <a:r>
              <a:rPr lang="en-US" dirty="0"/>
              <a:t> was passed under the nucleus in the capsular bag, and the nucleus was delivered by pulling the </a:t>
            </a:r>
            <a:r>
              <a:rPr lang="en-US" dirty="0" err="1"/>
              <a:t>vectis</a:t>
            </a:r>
            <a:r>
              <a:rPr lang="en-US" dirty="0"/>
              <a:t> out while slightly depressing the scleral side of the incision</a:t>
            </a:r>
            <a:r>
              <a:rPr lang="en-US" baseline="30000" dirty="0"/>
              <a:t>17</a:t>
            </a:r>
            <a:r>
              <a:rPr lang="en-US" dirty="0"/>
              <a:t>. Cortical matter was aspirated with a Simcoe two-way irrigation and aspiration cannula</a:t>
            </a:r>
            <a:r>
              <a:rPr lang="en-US" baseline="30000" dirty="0"/>
              <a:t>18</a:t>
            </a:r>
            <a:r>
              <a:rPr lang="en-US" dirty="0"/>
              <a:t>. A single-piece intraocular lens, 6 mm optic size and 12.5 mm total size, was implanted into the capsular bag</a:t>
            </a:r>
            <a:r>
              <a:rPr lang="en-US" baseline="30000" dirty="0"/>
              <a:t>19</a:t>
            </a:r>
            <a:r>
              <a:rPr lang="en-US" dirty="0"/>
              <a:t>.</a:t>
            </a:r>
          </a:p>
          <a:p>
            <a:pPr>
              <a:buFont typeface="Arial" pitchFamily="34" charset="0"/>
              <a:buChar char="•"/>
            </a:pPr>
            <a:r>
              <a:rPr lang="en-US" dirty="0"/>
              <a:t>Patients were examined on days 1, 7, 45, and 90</a:t>
            </a:r>
            <a:r>
              <a:rPr lang="en-US" baseline="30000" dirty="0"/>
              <a:t>202020</a:t>
            </a:r>
            <a:r>
              <a:rPr lang="en-US" dirty="0"/>
              <a:t>. Post-operatively, </a:t>
            </a:r>
            <a:r>
              <a:rPr lang="en-US" dirty="0" err="1"/>
              <a:t>Prednisolone</a:t>
            </a:r>
            <a:r>
              <a:rPr lang="en-US" dirty="0"/>
              <a:t> 1% eye drops were administered hourly in the first week, six times a day in the second week, and then gradually tapered over six weeks</a:t>
            </a:r>
            <a:r>
              <a:rPr lang="en-US" baseline="30000" dirty="0"/>
              <a:t>21</a:t>
            </a:r>
            <a:r>
              <a:rPr lang="en-US" dirty="0"/>
              <a:t>. </a:t>
            </a:r>
            <a:r>
              <a:rPr lang="en-US" dirty="0" err="1"/>
              <a:t>Moxifloxacin</a:t>
            </a:r>
            <a:r>
              <a:rPr lang="en-US" dirty="0"/>
              <a:t> eye drops 0.3% were administered four times a day for the first ten days and then discontinued</a:t>
            </a:r>
            <a:r>
              <a:rPr lang="en-US" baseline="30000" dirty="0"/>
              <a:t>22</a:t>
            </a:r>
            <a:r>
              <a:rPr lang="en-US" dirty="0"/>
              <a:t>.</a:t>
            </a:r>
          </a:p>
          <a:p>
            <a:pPr>
              <a:buFont typeface="Arial" pitchFamily="34" charset="0"/>
              <a:buChar char="•"/>
            </a:pPr>
            <a:r>
              <a:rPr lang="en-US" dirty="0" err="1"/>
              <a:t>Keratometry</a:t>
            </a:r>
            <a:r>
              <a:rPr lang="en-US" dirty="0"/>
              <a:t> readings were recorded at each visit</a:t>
            </a:r>
            <a:r>
              <a:rPr lang="en-US" baseline="30000" dirty="0"/>
              <a:t>23</a:t>
            </a:r>
            <a:r>
              <a:rPr lang="en-US" dirty="0"/>
              <a:t>. Surgically Induced Astigmatism (SIA) was calculated using 'SIA Calculator version 1.0,' a free software program that uses vector analysis to determine the amount of surgically induced astigmatism</a:t>
            </a:r>
            <a:r>
              <a:rPr lang="en-US" baseline="30000" dirty="0"/>
              <a:t>24242424</a:t>
            </a:r>
            <a:r>
              <a:rPr lang="en-US" dirty="0"/>
              <a:t>. Preoperative and postoperative (day 90) </a:t>
            </a:r>
            <a:r>
              <a:rPr lang="en-US" dirty="0" err="1"/>
              <a:t>keratometric</a:t>
            </a:r>
            <a:r>
              <a:rPr lang="en-US" dirty="0"/>
              <a:t> readings were used for the final SIA analysis</a:t>
            </a:r>
            <a:r>
              <a:rPr lang="en-US" baseline="30000" dirty="0"/>
              <a:t>25252525</a:t>
            </a:r>
            <a:r>
              <a:rPr lang="en-US"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632" y="1278791"/>
            <a:ext cx="6624736" cy="2616101"/>
          </a:xfrm>
          <a:prstGeom prst="rect">
            <a:avLst/>
          </a:prstGeom>
          <a:noFill/>
        </p:spPr>
        <p:txBody>
          <a:bodyPr wrap="square" rtlCol="0">
            <a:spAutoFit/>
          </a:bodyPr>
          <a:lstStyle/>
          <a:p>
            <a:pPr algn="ctr"/>
            <a:r>
              <a:rPr lang="en-US" sz="2800" b="1" u="sng" dirty="0"/>
              <a:t>REVIEW OF LITERATURE</a:t>
            </a:r>
            <a:r>
              <a:rPr lang="en-US" sz="2800" b="1" dirty="0"/>
              <a:t>:</a:t>
            </a:r>
            <a:endParaRPr lang="en-US" sz="2800" dirty="0"/>
          </a:p>
          <a:p>
            <a:pPr algn="ctr"/>
            <a:r>
              <a:rPr lang="en-US" sz="2800" b="1" dirty="0"/>
              <a:t> </a:t>
            </a:r>
            <a:endParaRPr lang="en-US" dirty="0">
              <a:latin typeface="+mj-lt"/>
            </a:endParaRPr>
          </a:p>
          <a:p>
            <a:r>
              <a:rPr lang="en-US" dirty="0"/>
              <a:t>The document highlights astigmatism as a significant refractive error where the eye's </a:t>
            </a:r>
            <a:r>
              <a:rPr lang="en-US" dirty="0" err="1"/>
              <a:t>dioptric</a:t>
            </a:r>
            <a:r>
              <a:rPr lang="en-US" dirty="0"/>
              <a:t> system unequally refracts light, leading to focal lines instead of a single point focus on the retina. This condition is a crucial factor contributing to poor uncorrected visual acuity following cataract surgery.</a:t>
            </a:r>
          </a:p>
          <a:p>
            <a:pPr lvl="0"/>
            <a:endParaRPr lang="en-US" kern="0" dirty="0">
              <a:solidFill>
                <a:srgbClr val="000000"/>
              </a:solidFill>
              <a:latin typeface="Calibri" panose="020F0502020204030204" pitchFamily="34" charset="0"/>
              <a:ea typeface="Calibri" panose="020F0502020204030204" pitchFamily="34" charset="0"/>
            </a:endParaRPr>
          </a:p>
        </p:txBody>
      </p:sp>
      <p:sp>
        <p:nvSpPr>
          <p:cNvPr id="3" name="Rectangle 2"/>
          <p:cNvSpPr/>
          <p:nvPr/>
        </p:nvSpPr>
        <p:spPr>
          <a:xfrm>
            <a:off x="116632" y="4030682"/>
            <a:ext cx="6624736" cy="3139321"/>
          </a:xfrm>
          <a:prstGeom prst="rect">
            <a:avLst/>
          </a:prstGeom>
        </p:spPr>
        <p:txBody>
          <a:bodyPr wrap="square">
            <a:spAutoFit/>
          </a:bodyPr>
          <a:lstStyle/>
          <a:p>
            <a:r>
              <a:rPr lang="en-US" dirty="0"/>
              <a:t>The literature review within the document traces the prevalence and changes of astigmatism with age:</a:t>
            </a:r>
          </a:p>
          <a:p>
            <a:r>
              <a:rPr lang="en-US" b="1" dirty="0"/>
              <a:t>Infancy:</a:t>
            </a:r>
            <a:r>
              <a:rPr lang="en-US" dirty="0"/>
              <a:t> High prevalence of high (average 6D) Against-the-Rule (ATR) corneal astigmatism is observed in the first months of life, particularly in newborns with lower birth weights and post-conceptual ages. As infants develop, astigmatism undergoes </a:t>
            </a:r>
            <a:r>
              <a:rPr lang="en-US" dirty="0" err="1"/>
              <a:t>emmetropization</a:t>
            </a:r>
            <a:r>
              <a:rPr lang="en-US" dirty="0"/>
              <a:t>.</a:t>
            </a:r>
          </a:p>
          <a:p>
            <a:r>
              <a:rPr lang="en-US" b="1" dirty="0"/>
              <a:t>Childhood:</a:t>
            </a:r>
            <a:r>
              <a:rPr lang="en-US" dirty="0"/>
              <a:t> After four years of age, astigmatism typically shifts to low levels of With-the-Rule (WTR), a change potentially influenced by eyelid pressure on the cornea over time. Children generally exhibit WTR astigmatism.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357291"/>
            <a:ext cx="6741368" cy="3970318"/>
          </a:xfrm>
          <a:prstGeom prst="rect">
            <a:avLst/>
          </a:prstGeom>
        </p:spPr>
        <p:txBody>
          <a:bodyPr wrap="square">
            <a:spAutoFit/>
          </a:bodyPr>
          <a:lstStyle/>
          <a:p>
            <a:r>
              <a:rPr lang="en-US" b="1" dirty="0"/>
              <a:t>Adulthood:</a:t>
            </a:r>
            <a:r>
              <a:rPr lang="en-US" dirty="0"/>
              <a:t> Young adults commonly display small degrees of WTR astigmatism, but a shift occurs in older adults, where ATR astigmatism becomes more prevalent.</a:t>
            </a:r>
          </a:p>
          <a:p>
            <a:r>
              <a:rPr lang="en-US" dirty="0"/>
              <a:t>Regarding cataract patients, research estimates that a significant portion—between 15% and 29%—have more than 1.5 D of pre-existing astigmatism. Furthermore, within the general cataract population:</a:t>
            </a:r>
          </a:p>
          <a:p>
            <a:r>
              <a:rPr lang="en-US" dirty="0"/>
              <a:t>Approximately 10% of patients have astigmatism exceeding 2 D of cylinder.</a:t>
            </a:r>
          </a:p>
          <a:p>
            <a:r>
              <a:rPr lang="en-US" dirty="0"/>
              <a:t>20% have astigmatism between 1 D and 2 D.</a:t>
            </a:r>
          </a:p>
          <a:p>
            <a:r>
              <a:rPr lang="en-US" dirty="0"/>
              <a:t>70% have less than 1 D of astigmatism.</a:t>
            </a:r>
          </a:p>
          <a:p>
            <a:r>
              <a:rPr lang="en-US" dirty="0"/>
              <a:t>The document emphasizes that Surgically Induced Astigmatism (SIA) plays an important role in the final postoperative visual acuity after cataract surgery, making its minimization a critical goal.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624" y="1047253"/>
            <a:ext cx="6696744" cy="7444667"/>
          </a:xfrm>
          <a:prstGeom prst="rect">
            <a:avLst/>
          </a:prstGeom>
          <a:noFill/>
        </p:spPr>
        <p:txBody>
          <a:bodyPr wrap="square" rtlCol="0">
            <a:spAutoFit/>
          </a:bodyPr>
          <a:lstStyle/>
          <a:p>
            <a:pPr algn="ctr"/>
            <a:r>
              <a:rPr lang="en-US" sz="2800" b="1" u="sng" dirty="0"/>
              <a:t>PROFORMA</a:t>
            </a:r>
          </a:p>
          <a:p>
            <a:pPr algn="ctr"/>
            <a:endParaRPr lang="en-US" sz="2400" dirty="0"/>
          </a:p>
          <a:p>
            <a:pPr algn="ctr">
              <a:lnSpc>
                <a:spcPct val="107000"/>
              </a:lnSpc>
              <a:spcAft>
                <a:spcPts val="800"/>
              </a:spcAft>
            </a:pPr>
            <a:r>
              <a:rPr lang="en-IN" sz="2400" b="1" dirty="0">
                <a:solidFill>
                  <a:srgbClr val="000000"/>
                </a:solidFill>
                <a:ea typeface="Times New Roman" panose="02020603050405020304" pitchFamily="18" charset="0"/>
                <a:cs typeface="Calibri" panose="020F0502020204030204" pitchFamily="34" charset="0"/>
              </a:rPr>
              <a:t>“</a:t>
            </a:r>
            <a:r>
              <a:rPr lang="en-US" sz="2400" dirty="0"/>
              <a:t>Comparison of Surgically Induced Astigmatism in Manual Small Incision Cataract Surgery Following Straight Versus Frown Incision.</a:t>
            </a:r>
            <a:r>
              <a:rPr lang="en-IN" sz="2400" b="1" dirty="0">
                <a:solidFill>
                  <a:srgbClr val="000000"/>
                </a:solidFill>
                <a:ea typeface="Times New Roman" panose="02020603050405020304" pitchFamily="18" charset="0"/>
                <a:cs typeface="Calibri" panose="020F0502020204030204" pitchFamily="34" charset="0"/>
              </a:rPr>
              <a:t>”</a:t>
            </a:r>
          </a:p>
          <a:p>
            <a:pPr marL="436880" indent="-6350">
              <a:lnSpc>
                <a:spcPct val="105000"/>
              </a:lnSpc>
              <a:spcAft>
                <a:spcPts val="60"/>
              </a:spcAft>
            </a:pPr>
            <a:endParaRPr lang="en-IN" sz="2000" dirty="0">
              <a:solidFill>
                <a:srgbClr val="000000"/>
              </a:solidFill>
              <a:ea typeface="Calibri" panose="020F0502020204030204" pitchFamily="34" charset="0"/>
            </a:endParaRPr>
          </a:p>
          <a:p>
            <a:pPr marL="436880" indent="-6350">
              <a:lnSpc>
                <a:spcPct val="105000"/>
              </a:lnSpc>
              <a:spcAft>
                <a:spcPts val="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Name:    </a:t>
            </a:r>
            <a:endParaRPr lang="en-IN" sz="2200" dirty="0">
              <a:solidFill>
                <a:srgbClr val="000000"/>
              </a:solidFill>
              <a:latin typeface="Calibri" panose="020F0502020204030204" pitchFamily="34" charset="0"/>
              <a:ea typeface="Calibri" panose="020F0502020204030204" pitchFamily="34" charset="0"/>
            </a:endParaRPr>
          </a:p>
          <a:p>
            <a:pPr marL="436880" indent="-6350">
              <a:lnSpc>
                <a:spcPct val="105000"/>
              </a:lnSpc>
              <a:spcAft>
                <a:spcPts val="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OPD/IPD No:</a:t>
            </a:r>
            <a:endParaRPr lang="en-IN" sz="2200" dirty="0">
              <a:solidFill>
                <a:srgbClr val="000000"/>
              </a:solidFill>
              <a:latin typeface="Calibri" panose="020F0502020204030204" pitchFamily="34" charset="0"/>
              <a:ea typeface="Calibri" panose="020F0502020204030204" pitchFamily="34" charset="0"/>
            </a:endParaRPr>
          </a:p>
          <a:p>
            <a:pPr>
              <a:lnSpc>
                <a:spcPct val="105000"/>
              </a:lnSpc>
              <a:spcAft>
                <a:spcPts val="60"/>
              </a:spcAft>
              <a:tabLst>
                <a:tab pos="746125" algn="ctr"/>
                <a:tab pos="1355090" algn="ctr"/>
                <a:tab pos="2270125" algn="ctr"/>
              </a:tabLs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       Date: 	 	 </a:t>
            </a:r>
            <a:endParaRPr lang="en-IN" sz="2200" dirty="0">
              <a:solidFill>
                <a:srgbClr val="000000"/>
              </a:solidFill>
              <a:latin typeface="Calibri" panose="020F0502020204030204" pitchFamily="34" charset="0"/>
              <a:ea typeface="Calibri" panose="020F0502020204030204" pitchFamily="34" charset="0"/>
            </a:endParaRPr>
          </a:p>
          <a:p>
            <a:pPr marL="436880" indent="-6350">
              <a:lnSpc>
                <a:spcPct val="105000"/>
              </a:lnSpc>
              <a:spcAft>
                <a:spcPts val="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Gender:</a:t>
            </a:r>
            <a:endParaRPr lang="en-IN" sz="2200" dirty="0">
              <a:solidFill>
                <a:srgbClr val="000000"/>
              </a:solidFill>
              <a:latin typeface="Calibri" panose="020F0502020204030204" pitchFamily="34" charset="0"/>
              <a:ea typeface="Calibri" panose="020F0502020204030204" pitchFamily="34" charset="0"/>
            </a:endParaRPr>
          </a:p>
          <a:p>
            <a:pPr marL="436880" indent="-6350">
              <a:lnSpc>
                <a:spcPct val="105000"/>
              </a:lnSpc>
              <a:spcAft>
                <a:spcPts val="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Address:</a:t>
            </a:r>
            <a:endParaRPr lang="en-IN" sz="2200" dirty="0">
              <a:solidFill>
                <a:srgbClr val="000000"/>
              </a:solidFill>
              <a:latin typeface="Calibri" panose="020F0502020204030204" pitchFamily="34" charset="0"/>
              <a:ea typeface="Calibri" panose="020F0502020204030204" pitchFamily="34" charset="0"/>
            </a:endParaRPr>
          </a:p>
          <a:p>
            <a:pPr marL="436880" indent="-6350">
              <a:lnSpc>
                <a:spcPct val="105000"/>
              </a:lnSpc>
              <a:spcAft>
                <a:spcPts val="248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Phone no:</a:t>
            </a:r>
            <a:endParaRPr lang="en-IN" sz="2200" dirty="0">
              <a:solidFill>
                <a:srgbClr val="000000"/>
              </a:solidFill>
              <a:latin typeface="Calibri" panose="020F0502020204030204" pitchFamily="34" charset="0"/>
              <a:ea typeface="Calibri" panose="020F0502020204030204" pitchFamily="34" charset="0"/>
            </a:endParaRPr>
          </a:p>
          <a:p>
            <a:pPr marL="436880" indent="-6350">
              <a:lnSpc>
                <a:spcPct val="105000"/>
              </a:lnSpc>
              <a:spcAft>
                <a:spcPts val="25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Chief Complaints:</a:t>
            </a:r>
          </a:p>
          <a:p>
            <a:pPr marL="436880" indent="-6350">
              <a:lnSpc>
                <a:spcPct val="105000"/>
              </a:lnSpc>
              <a:spcAft>
                <a:spcPts val="25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History of Presenting Illness</a:t>
            </a:r>
            <a:endParaRPr lang="en-IN" sz="2200" dirty="0">
              <a:solidFill>
                <a:srgbClr val="000000"/>
              </a:solidFill>
              <a:latin typeface="Calibri" panose="020F0502020204030204" pitchFamily="34" charset="0"/>
              <a:ea typeface="Calibri" panose="020F0502020204030204" pitchFamily="34" charset="0"/>
            </a:endParaRPr>
          </a:p>
          <a:p>
            <a:pPr marL="436880" indent="-6350">
              <a:lnSpc>
                <a:spcPct val="105000"/>
              </a:lnSpc>
              <a:spcAft>
                <a:spcPts val="256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Past History:</a:t>
            </a:r>
            <a:endParaRPr lang="en-IN" sz="2200" dirty="0">
              <a:solidFill>
                <a:srgbClr val="000000"/>
              </a:solidFill>
              <a:latin typeface="Calibri" panose="020F0502020204030204" pitchFamily="34" charset="0"/>
              <a:ea typeface="Calibri" panose="020F0502020204030204" pitchFamily="34" charset="0"/>
            </a:endParaRPr>
          </a:p>
          <a:p>
            <a:pPr marL="446405" marR="168275" indent="-6350" algn="just">
              <a:lnSpc>
                <a:spcPct val="106000"/>
              </a:lnSpc>
              <a:spcAft>
                <a:spcPts val="40"/>
              </a:spcAft>
            </a:pPr>
            <a:r>
              <a:rPr lang="en-US" sz="2200" dirty="0">
                <a:solidFill>
                  <a:srgbClr val="000000"/>
                </a:solidFill>
                <a:latin typeface="Calibri" panose="020F0502020204030204" pitchFamily="34" charset="0"/>
                <a:ea typeface="Calibri" panose="020F0502020204030204" pitchFamily="34" charset="0"/>
                <a:cs typeface="Calibri" panose="020F0502020204030204" pitchFamily="34" charset="0"/>
              </a:rPr>
              <a:t>Surgical – h/o previous cataract surgery</a:t>
            </a:r>
            <a:endParaRPr lang="en-IN" sz="2200" dirty="0">
              <a:solidFill>
                <a:srgbClr val="000000"/>
              </a:solidFill>
              <a:latin typeface="Calibri" panose="020F0502020204030204" pitchFamily="34" charset="0"/>
              <a:ea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D564C1C-4DC2-CFC8-C0BC-329B36F65300}"/>
              </a:ext>
            </a:extLst>
          </p:cNvPr>
          <p:cNvGraphicFramePr>
            <a:graphicFrameLocks noGrp="1"/>
          </p:cNvGraphicFramePr>
          <p:nvPr>
            <p:extLst>
              <p:ext uri="{D42A27DB-BD31-4B8C-83A1-F6EECF244321}">
                <p14:modId xmlns:p14="http://schemas.microsoft.com/office/powerpoint/2010/main" val="657255736"/>
              </p:ext>
            </p:extLst>
          </p:nvPr>
        </p:nvGraphicFramePr>
        <p:xfrm>
          <a:off x="44625" y="1143000"/>
          <a:ext cx="6813375" cy="7326918"/>
        </p:xfrm>
        <a:graphic>
          <a:graphicData uri="http://schemas.openxmlformats.org/drawingml/2006/table">
            <a:tbl>
              <a:tblPr firstRow="1" bandRow="1">
                <a:tableStyleId>{5C22544A-7EE6-4342-B048-85BDC9FD1C3A}</a:tableStyleId>
              </a:tblPr>
              <a:tblGrid>
                <a:gridCol w="2271125">
                  <a:extLst>
                    <a:ext uri="{9D8B030D-6E8A-4147-A177-3AD203B41FA5}">
                      <a16:colId xmlns:a16="http://schemas.microsoft.com/office/drawing/2014/main" val="3813125264"/>
                    </a:ext>
                  </a:extLst>
                </a:gridCol>
                <a:gridCol w="2271125">
                  <a:extLst>
                    <a:ext uri="{9D8B030D-6E8A-4147-A177-3AD203B41FA5}">
                      <a16:colId xmlns:a16="http://schemas.microsoft.com/office/drawing/2014/main" val="1989367872"/>
                    </a:ext>
                  </a:extLst>
                </a:gridCol>
                <a:gridCol w="2271125">
                  <a:extLst>
                    <a:ext uri="{9D8B030D-6E8A-4147-A177-3AD203B41FA5}">
                      <a16:colId xmlns:a16="http://schemas.microsoft.com/office/drawing/2014/main" val="3470960815"/>
                    </a:ext>
                  </a:extLst>
                </a:gridCol>
              </a:tblGrid>
              <a:tr h="527538">
                <a:tc>
                  <a:txBody>
                    <a:bodyPr/>
                    <a:lstStyle/>
                    <a:p>
                      <a:endParaRPr lang="en-IN"/>
                    </a:p>
                  </a:txBody>
                  <a:tcPr/>
                </a:tc>
                <a:tc>
                  <a:txBody>
                    <a:bodyPr/>
                    <a:lstStyle/>
                    <a:p>
                      <a:pPr algn="ctr"/>
                      <a:r>
                        <a:rPr lang="en-US" sz="2200" dirty="0"/>
                        <a:t>Right Eye</a:t>
                      </a:r>
                      <a:endParaRPr lang="en-IN" sz="2200" dirty="0"/>
                    </a:p>
                  </a:txBody>
                  <a:tcPr/>
                </a:tc>
                <a:tc>
                  <a:txBody>
                    <a:bodyPr/>
                    <a:lstStyle/>
                    <a:p>
                      <a:pPr algn="ctr"/>
                      <a:r>
                        <a:rPr lang="en-US" sz="2200" dirty="0"/>
                        <a:t>Left Eye</a:t>
                      </a:r>
                      <a:endParaRPr lang="en-IN" sz="2200" dirty="0"/>
                    </a:p>
                  </a:txBody>
                  <a:tcPr/>
                </a:tc>
                <a:extLst>
                  <a:ext uri="{0D108BD9-81ED-4DB2-BD59-A6C34878D82A}">
                    <a16:rowId xmlns:a16="http://schemas.microsoft.com/office/drawing/2014/main" val="850915504"/>
                  </a:ext>
                </a:extLst>
              </a:tr>
              <a:tr h="527538">
                <a:tc>
                  <a:txBody>
                    <a:bodyPr/>
                    <a:lstStyle/>
                    <a:p>
                      <a:r>
                        <a:rPr lang="en-US" sz="2200" dirty="0"/>
                        <a:t>Vision</a:t>
                      </a:r>
                      <a:endParaRPr lang="en-IN" sz="2200" dirty="0"/>
                    </a:p>
                  </a:txBody>
                  <a:tcPr/>
                </a:tc>
                <a:tc>
                  <a:txBody>
                    <a:bodyPr/>
                    <a:lstStyle/>
                    <a:p>
                      <a:endParaRPr lang="en-IN" dirty="0"/>
                    </a:p>
                  </a:txBody>
                  <a:tcPr/>
                </a:tc>
                <a:tc>
                  <a:txBody>
                    <a:bodyPr/>
                    <a:lstStyle/>
                    <a:p>
                      <a:endParaRPr lang="en-IN"/>
                    </a:p>
                  </a:txBody>
                  <a:tcPr/>
                </a:tc>
                <a:extLst>
                  <a:ext uri="{0D108BD9-81ED-4DB2-BD59-A6C34878D82A}">
                    <a16:rowId xmlns:a16="http://schemas.microsoft.com/office/drawing/2014/main" val="3903615543"/>
                  </a:ext>
                </a:extLst>
              </a:tr>
              <a:tr h="527538">
                <a:tc>
                  <a:txBody>
                    <a:bodyPr/>
                    <a:lstStyle/>
                    <a:p>
                      <a:r>
                        <a:rPr lang="en-US" sz="2200" dirty="0"/>
                        <a:t>Vision with pinhole</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736618627"/>
                  </a:ext>
                </a:extLst>
              </a:tr>
              <a:tr h="527538">
                <a:tc>
                  <a:txBody>
                    <a:bodyPr/>
                    <a:lstStyle/>
                    <a:p>
                      <a:r>
                        <a:rPr lang="en-US" sz="2200" dirty="0"/>
                        <a:t>Lids</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614420327"/>
                  </a:ext>
                </a:extLst>
              </a:tr>
              <a:tr h="527538">
                <a:tc>
                  <a:txBody>
                    <a:bodyPr/>
                    <a:lstStyle/>
                    <a:p>
                      <a:r>
                        <a:rPr lang="en-US" sz="2200" dirty="0"/>
                        <a:t>Conjunctiva</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863599507"/>
                  </a:ext>
                </a:extLst>
              </a:tr>
              <a:tr h="527538">
                <a:tc>
                  <a:txBody>
                    <a:bodyPr/>
                    <a:lstStyle/>
                    <a:p>
                      <a:r>
                        <a:rPr lang="en-US" sz="2200" dirty="0"/>
                        <a:t>Cornea</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149079689"/>
                  </a:ext>
                </a:extLst>
              </a:tr>
              <a:tr h="527538">
                <a:tc>
                  <a:txBody>
                    <a:bodyPr/>
                    <a:lstStyle/>
                    <a:p>
                      <a:r>
                        <a:rPr lang="en-US" sz="2200" dirty="0"/>
                        <a:t>Sclera</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228612094"/>
                  </a:ext>
                </a:extLst>
              </a:tr>
              <a:tr h="527538">
                <a:tc>
                  <a:txBody>
                    <a:bodyPr/>
                    <a:lstStyle/>
                    <a:p>
                      <a:r>
                        <a:rPr lang="en-US" sz="2200" dirty="0"/>
                        <a:t>Anterior chamber</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785661411"/>
                  </a:ext>
                </a:extLst>
              </a:tr>
              <a:tr h="527538">
                <a:tc>
                  <a:txBody>
                    <a:bodyPr/>
                    <a:lstStyle/>
                    <a:p>
                      <a:r>
                        <a:rPr lang="en-US" sz="2200" dirty="0"/>
                        <a:t>Iris</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167299251"/>
                  </a:ext>
                </a:extLst>
              </a:tr>
              <a:tr h="527538">
                <a:tc>
                  <a:txBody>
                    <a:bodyPr/>
                    <a:lstStyle/>
                    <a:p>
                      <a:r>
                        <a:rPr lang="en-US" sz="2200" dirty="0"/>
                        <a:t>Pupil</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405428994"/>
                  </a:ext>
                </a:extLst>
              </a:tr>
              <a:tr h="527538">
                <a:tc>
                  <a:txBody>
                    <a:bodyPr/>
                    <a:lstStyle/>
                    <a:p>
                      <a:r>
                        <a:rPr lang="en-US" sz="2200" dirty="0"/>
                        <a:t>Lens</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402031321"/>
                  </a:ext>
                </a:extLst>
              </a:tr>
              <a:tr h="527538">
                <a:tc>
                  <a:txBody>
                    <a:bodyPr/>
                    <a:lstStyle/>
                    <a:p>
                      <a:r>
                        <a:rPr lang="en-US" sz="2200" dirty="0"/>
                        <a:t>Fundus</a:t>
                      </a:r>
                      <a:endParaRPr lang="en-IN" sz="2200" dirty="0"/>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670673523"/>
                  </a:ext>
                </a:extLst>
              </a:tr>
              <a:tr h="527538">
                <a:tc>
                  <a:txBody>
                    <a:bodyPr/>
                    <a:lstStyle/>
                    <a:p>
                      <a:r>
                        <a:rPr lang="en-US" sz="2200" dirty="0"/>
                        <a:t>RNFL thickness by OCT</a:t>
                      </a:r>
                      <a:endParaRPr lang="en-IN" sz="2200"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196418864"/>
                  </a:ext>
                </a:extLst>
              </a:tr>
            </a:tbl>
          </a:graphicData>
        </a:graphic>
      </p:graphicFrame>
    </p:spTree>
    <p:extLst>
      <p:ext uri="{BB962C8B-B14F-4D97-AF65-F5344CB8AC3E}">
        <p14:creationId xmlns:p14="http://schemas.microsoft.com/office/powerpoint/2010/main" val="610688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8640" y="251520"/>
            <a:ext cx="6552728" cy="9290300"/>
          </a:xfrm>
          <a:prstGeom prst="rect">
            <a:avLst/>
          </a:prstGeom>
          <a:noFill/>
        </p:spPr>
        <p:txBody>
          <a:bodyPr wrap="square" rtlCol="0">
            <a:spAutoFit/>
          </a:bodyPr>
          <a:lstStyle/>
          <a:p>
            <a:pPr algn="ctr"/>
            <a:r>
              <a:rPr lang="en-US" sz="2800" b="1" u="sng" dirty="0"/>
              <a:t>PATIENT CONSENT FORM</a:t>
            </a:r>
            <a:endParaRPr lang="en-US" sz="2800" u="sng" dirty="0"/>
          </a:p>
          <a:p>
            <a:pPr algn="ctr"/>
            <a:r>
              <a:rPr lang="en-US" sz="2400" b="1" dirty="0"/>
              <a:t>Pacific Institute of Medical Sciences, </a:t>
            </a:r>
            <a:r>
              <a:rPr lang="en-US" sz="2400" b="1" dirty="0" err="1"/>
              <a:t>Umarda</a:t>
            </a:r>
            <a:r>
              <a:rPr lang="en-US" sz="2400" b="1" dirty="0"/>
              <a:t>, Udaipur</a:t>
            </a:r>
          </a:p>
          <a:p>
            <a:pPr algn="ctr">
              <a:lnSpc>
                <a:spcPct val="107000"/>
              </a:lnSpc>
              <a:spcAft>
                <a:spcPts val="800"/>
              </a:spcAft>
            </a:pPr>
            <a:r>
              <a:rPr lang="en-IN" sz="2400" b="1" dirty="0">
                <a:solidFill>
                  <a:srgbClr val="000000"/>
                </a:solidFill>
                <a:ea typeface="Times New Roman" panose="02020603050405020304" pitchFamily="18" charset="0"/>
                <a:cs typeface="Calibri" panose="020F0502020204030204" pitchFamily="34" charset="0"/>
              </a:rPr>
              <a:t>“</a:t>
            </a:r>
            <a:r>
              <a:rPr lang="en-US" sz="2400" dirty="0"/>
              <a:t>Comparison of Surgically Induced Astigmatism in Manual Small Incision Cataract Surgery Following Straight Versus Frown Incision.</a:t>
            </a:r>
            <a:r>
              <a:rPr lang="en-IN" sz="2400" b="1" dirty="0">
                <a:solidFill>
                  <a:srgbClr val="000000"/>
                </a:solidFill>
                <a:ea typeface="Times New Roman" panose="02020603050405020304" pitchFamily="18" charset="0"/>
                <a:cs typeface="Calibri" panose="020F0502020204030204" pitchFamily="34" charset="0"/>
              </a:rPr>
              <a:t>”</a:t>
            </a:r>
          </a:p>
          <a:p>
            <a:pPr algn="ctr"/>
            <a:endParaRPr lang="en-US" b="1" dirty="0"/>
          </a:p>
          <a:p>
            <a:r>
              <a:rPr lang="en-US" sz="2100" dirty="0"/>
              <a:t>Name:                                                       Age/Sex: </a:t>
            </a:r>
          </a:p>
          <a:p>
            <a:r>
              <a:rPr lang="en-US" sz="2100" dirty="0"/>
              <a:t>Date:                                                         IPD No:</a:t>
            </a:r>
          </a:p>
          <a:p>
            <a:r>
              <a:rPr lang="en-US" sz="2100" dirty="0"/>
              <a:t>Project Patient No:                                 Contact:</a:t>
            </a:r>
          </a:p>
          <a:p>
            <a:pPr marL="285750" indent="-285750">
              <a:buFont typeface="Arial" panose="020B0604020202020204" pitchFamily="34" charset="0"/>
              <a:buChar char="•"/>
            </a:pPr>
            <a:r>
              <a:rPr lang="en-US" sz="2100" dirty="0"/>
              <a:t>The details of the study have been explained to me in my own language. </a:t>
            </a:r>
          </a:p>
          <a:p>
            <a:pPr marL="285750" indent="-285750">
              <a:buFont typeface="Arial" panose="020B0604020202020204" pitchFamily="34" charset="0"/>
              <a:buChar char="•"/>
            </a:pPr>
            <a:r>
              <a:rPr lang="en-US" sz="2100" dirty="0"/>
              <a:t>I confirm that I have understood the above study and had the opportunity to ask questions. </a:t>
            </a:r>
          </a:p>
          <a:p>
            <a:pPr marL="285750" indent="-285750">
              <a:buFont typeface="Arial" panose="020B0604020202020204" pitchFamily="34" charset="0"/>
              <a:buChar char="•"/>
            </a:pPr>
            <a:r>
              <a:rPr lang="en-US" sz="2100" dirty="0"/>
              <a:t>I understood that my participation in the study is voluntary and that I am free to withdraw at any time, without giving any reason.</a:t>
            </a:r>
          </a:p>
          <a:p>
            <a:pPr marL="285750" indent="-285750">
              <a:buFont typeface="Arial" panose="020B0604020202020204" pitchFamily="34" charset="0"/>
              <a:buChar char="•"/>
            </a:pPr>
            <a:r>
              <a:rPr lang="en-US" sz="2100" dirty="0"/>
              <a:t>I agree not to restrict the use of any data or results that arise from this study provided such a use is only for scientific purpose(s). </a:t>
            </a:r>
          </a:p>
          <a:p>
            <a:pPr marL="285750" indent="-285750">
              <a:buFont typeface="Arial" panose="020B0604020202020204" pitchFamily="34" charset="0"/>
              <a:buChar char="•"/>
            </a:pPr>
            <a:r>
              <a:rPr lang="en-US" sz="2100" dirty="0"/>
              <a:t>I fully consent to participate in the above study.</a:t>
            </a:r>
            <a:endParaRPr lang="en-US" sz="2200" dirty="0"/>
          </a:p>
          <a:p>
            <a:r>
              <a:rPr lang="en-US" sz="2100" dirty="0"/>
              <a:t>Name of the Patient ________________Signature _________________</a:t>
            </a:r>
          </a:p>
          <a:p>
            <a:r>
              <a:rPr lang="en-US" sz="2100" dirty="0"/>
              <a:t>Date _______________</a:t>
            </a:r>
          </a:p>
          <a:p>
            <a:r>
              <a:rPr lang="en-US" sz="2100" dirty="0"/>
              <a:t>Name of the Investigator _____________Signature_________________ Date_______________</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D8C4A7-E1B7-BCB2-D770-8ECCED454065}"/>
              </a:ext>
            </a:extLst>
          </p:cNvPr>
          <p:cNvSpPr txBox="1"/>
          <p:nvPr/>
        </p:nvSpPr>
        <p:spPr>
          <a:xfrm>
            <a:off x="260648" y="1578553"/>
            <a:ext cx="6408712" cy="5362174"/>
          </a:xfrm>
          <a:prstGeom prst="rect">
            <a:avLst/>
          </a:prstGeom>
          <a:noFill/>
        </p:spPr>
        <p:txBody>
          <a:bodyPr wrap="square">
            <a:spAutoFit/>
          </a:bodyPr>
          <a:lstStyle/>
          <a:p>
            <a:pPr algn="ctr">
              <a:lnSpc>
                <a:spcPct val="107000"/>
              </a:lnSpc>
              <a:spcAft>
                <a:spcPts val="800"/>
              </a:spcAft>
            </a:pPr>
            <a:r>
              <a:rPr lang="hi-IN" b="1" u="sng" dirty="0">
                <a:solidFill>
                  <a:srgbClr val="000000"/>
                </a:solidFill>
                <a:latin typeface="Calibri" panose="020F0502020204030204" pitchFamily="34" charset="0"/>
                <a:ea typeface="Calibri" panose="020F0502020204030204" pitchFamily="34" charset="0"/>
                <a:cs typeface="Nirmala UI" panose="020B0502040204020203" pitchFamily="34" charset="0"/>
              </a:rPr>
              <a:t>रोगी सहमति फार्म</a:t>
            </a:r>
            <a:endParaRPr lang="en-IN" u="sng" dirty="0">
              <a:solidFill>
                <a:srgbClr val="000000"/>
              </a:solidFill>
              <a:latin typeface="Calibri" panose="020F0502020204030204" pitchFamily="34" charset="0"/>
              <a:ea typeface="Calibri" panose="020F0502020204030204" pitchFamily="34" charset="0"/>
            </a:endParaRPr>
          </a:p>
          <a:p>
            <a:pPr algn="ctr">
              <a:lnSpc>
                <a:spcPct val="107000"/>
              </a:lnSpc>
              <a:spcAft>
                <a:spcPts val="800"/>
              </a:spcAft>
            </a:pPr>
            <a:r>
              <a:rPr lang="en-US" sz="2000" b="1" dirty="0" err="1">
                <a:solidFill>
                  <a:srgbClr val="000000"/>
                </a:solidFill>
                <a:latin typeface="Mangal" panose="02040503050203030202" pitchFamily="18" charset="0"/>
                <a:ea typeface="Calibri" panose="020F0502020204030204" pitchFamily="34" charset="0"/>
              </a:rPr>
              <a:t>पेसिफिक</a:t>
            </a:r>
            <a:r>
              <a:rPr lang="en-US" sz="2000" b="1" dirty="0">
                <a:solidFill>
                  <a:srgbClr val="000000"/>
                </a:solidFill>
                <a:latin typeface="Nirmala UI" panose="020B0502040204020203" pitchFamily="34" charset="0"/>
                <a:ea typeface="Calibri" panose="020F0502020204030204" pitchFamily="34" charset="0"/>
              </a:rPr>
              <a:t> </a:t>
            </a:r>
            <a:r>
              <a:rPr lang="en-US" sz="2000" b="1" dirty="0" err="1">
                <a:solidFill>
                  <a:srgbClr val="000000"/>
                </a:solidFill>
                <a:latin typeface="Mangal" panose="02040503050203030202" pitchFamily="18" charset="0"/>
                <a:ea typeface="Calibri" panose="020F0502020204030204" pitchFamily="34" charset="0"/>
              </a:rPr>
              <a:t>इंस्टीट्यूट</a:t>
            </a:r>
            <a:r>
              <a:rPr lang="en-US" sz="2000" b="1" dirty="0">
                <a:solidFill>
                  <a:srgbClr val="000000"/>
                </a:solidFill>
                <a:latin typeface="Nirmala UI" panose="020B0502040204020203" pitchFamily="34" charset="0"/>
                <a:ea typeface="Calibri" panose="020F0502020204030204" pitchFamily="34" charset="0"/>
              </a:rPr>
              <a:t> </a:t>
            </a:r>
            <a:r>
              <a:rPr lang="en-US" sz="2000" b="1" dirty="0" err="1">
                <a:solidFill>
                  <a:srgbClr val="000000"/>
                </a:solidFill>
                <a:latin typeface="Mangal" panose="02040503050203030202" pitchFamily="18" charset="0"/>
                <a:ea typeface="Calibri" panose="020F0502020204030204" pitchFamily="34" charset="0"/>
              </a:rPr>
              <a:t>ऑफ</a:t>
            </a:r>
            <a:r>
              <a:rPr lang="en-US" sz="2000" b="1" dirty="0">
                <a:solidFill>
                  <a:srgbClr val="000000"/>
                </a:solidFill>
                <a:latin typeface="Nirmala UI" panose="020B0502040204020203" pitchFamily="34" charset="0"/>
                <a:ea typeface="Calibri" panose="020F0502020204030204" pitchFamily="34" charset="0"/>
              </a:rPr>
              <a:t> </a:t>
            </a:r>
            <a:r>
              <a:rPr lang="en-US" sz="2000" b="1" dirty="0" err="1">
                <a:solidFill>
                  <a:srgbClr val="000000"/>
                </a:solidFill>
                <a:latin typeface="Mangal" panose="02040503050203030202" pitchFamily="18" charset="0"/>
                <a:ea typeface="Calibri" panose="020F0502020204030204" pitchFamily="34" charset="0"/>
              </a:rPr>
              <a:t>मेडिकल</a:t>
            </a:r>
            <a:r>
              <a:rPr lang="en-US" sz="2000" b="1" dirty="0">
                <a:solidFill>
                  <a:srgbClr val="000000"/>
                </a:solidFill>
                <a:latin typeface="Nirmala UI" panose="020B0502040204020203" pitchFamily="34" charset="0"/>
                <a:ea typeface="Calibri" panose="020F0502020204030204" pitchFamily="34" charset="0"/>
              </a:rPr>
              <a:t> </a:t>
            </a:r>
            <a:r>
              <a:rPr lang="en-US" sz="2000" b="1" dirty="0" err="1">
                <a:solidFill>
                  <a:srgbClr val="000000"/>
                </a:solidFill>
                <a:latin typeface="Mangal" panose="02040503050203030202" pitchFamily="18" charset="0"/>
                <a:ea typeface="Calibri" panose="020F0502020204030204" pitchFamily="34" charset="0"/>
              </a:rPr>
              <a:t>साइंसेज</a:t>
            </a:r>
            <a:r>
              <a:rPr lang="en-US" sz="2000" b="1" dirty="0">
                <a:solidFill>
                  <a:srgbClr val="000000"/>
                </a:solidFill>
                <a:latin typeface="Nirmala UI" panose="020B0502040204020203" pitchFamily="34" charset="0"/>
                <a:ea typeface="Calibri" panose="020F0502020204030204" pitchFamily="34" charset="0"/>
              </a:rPr>
              <a:t>, </a:t>
            </a:r>
            <a:r>
              <a:rPr lang="en-US" sz="2000" b="1" dirty="0" err="1">
                <a:solidFill>
                  <a:srgbClr val="000000"/>
                </a:solidFill>
                <a:latin typeface="Mangal" panose="02040503050203030202" pitchFamily="18" charset="0"/>
                <a:ea typeface="Calibri" panose="020F0502020204030204" pitchFamily="34" charset="0"/>
              </a:rPr>
              <a:t>उमरड़ा</a:t>
            </a:r>
            <a:r>
              <a:rPr lang="en-US" sz="2000" b="1" dirty="0">
                <a:solidFill>
                  <a:srgbClr val="000000"/>
                </a:solidFill>
                <a:latin typeface="Nirmala UI" panose="020B0502040204020203" pitchFamily="34" charset="0"/>
                <a:ea typeface="Calibri" panose="020F0502020204030204" pitchFamily="34" charset="0"/>
              </a:rPr>
              <a:t>, </a:t>
            </a:r>
            <a:r>
              <a:rPr lang="en-US" sz="2000" b="1" dirty="0" err="1">
                <a:solidFill>
                  <a:srgbClr val="000000"/>
                </a:solidFill>
                <a:latin typeface="Mangal" panose="02040503050203030202" pitchFamily="18" charset="0"/>
                <a:ea typeface="Calibri" panose="020F0502020204030204" pitchFamily="34" charset="0"/>
              </a:rPr>
              <a:t>उदयपुर</a:t>
            </a:r>
            <a:r>
              <a:rPr lang="en-US" sz="2000" b="1" dirty="0">
                <a:solidFill>
                  <a:srgbClr val="000000"/>
                </a:solidFill>
                <a:latin typeface="Nirmala UI" panose="020B0502040204020203" pitchFamily="34" charset="0"/>
                <a:ea typeface="Calibri" panose="020F0502020204030204" pitchFamily="34" charset="0"/>
              </a:rPr>
              <a:t> </a:t>
            </a:r>
            <a:endParaRPr lang="en-IN" sz="2000" dirty="0">
              <a:solidFill>
                <a:srgbClr val="000000"/>
              </a:solidFill>
              <a:latin typeface="Calibri" panose="020F0502020204030204" pitchFamily="34" charset="0"/>
              <a:ea typeface="Calibri" panose="020F0502020204030204" pitchFamily="34" charset="0"/>
            </a:endParaRPr>
          </a:p>
          <a:p>
            <a:pPr algn="ctr">
              <a:lnSpc>
                <a:spcPct val="107000"/>
              </a:lnSpc>
              <a:spcAft>
                <a:spcPts val="800"/>
              </a:spcAft>
            </a:pP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hi-IN" sz="2000" b="1" dirty="0"/>
              <a:t>सीधे बनाम फ्राउन चीरे के बाद मैनुअल स्मॉल इंसीजन मोतियाबिंद सर्जरी में सर्जरी-प्रेरित दृष्टिवैषम्य (एस्टिग्मेटिज्म) की तुलना</a:t>
            </a:r>
            <a:r>
              <a:rPr lang="hi-IN" sz="2000" b="1" dirty="0">
                <a:solidFill>
                  <a:srgbClr val="000000"/>
                </a:solidFill>
                <a:latin typeface="Calibri" panose="020F0502020204030204" pitchFamily="34" charset="0"/>
                <a:ea typeface="Calibri" panose="020F0502020204030204" pitchFamily="34" charset="0"/>
                <a:cs typeface="Mangal" panose="02040503050203030202" pitchFamily="18" charset="0"/>
              </a:rPr>
              <a:t>।</a:t>
            </a:r>
            <a:r>
              <a:rPr lang="hi-IN" sz="20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IN" sz="2000" dirty="0">
              <a:solidFill>
                <a:srgbClr val="000000"/>
              </a:solidFill>
              <a:latin typeface="Calibri" panose="020F0502020204030204" pitchFamily="34" charset="0"/>
              <a:ea typeface="Calibri" panose="020F0502020204030204" pitchFamily="34" charset="0"/>
            </a:endParaRPr>
          </a:p>
          <a:p>
            <a:pPr algn="ctr"/>
            <a:endParaRPr lang="en-US" b="1" dirty="0"/>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मरीज़ का नाम:                                         उम्र/ लिंग:</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दिनांक:                                                  </a:t>
            </a:r>
            <a:r>
              <a:rPr lang="en-US" dirty="0" err="1">
                <a:solidFill>
                  <a:srgbClr val="000000"/>
                </a:solidFill>
                <a:latin typeface="Mangal" panose="02040503050203030202" pitchFamily="18" charset="0"/>
                <a:ea typeface="Calibri" panose="020F0502020204030204" pitchFamily="34" charset="0"/>
              </a:rPr>
              <a:t>आई</a:t>
            </a:r>
            <a:r>
              <a:rPr lang="en-US" dirty="0">
                <a:solidFill>
                  <a:srgbClr val="000000"/>
                </a:solidFill>
                <a:latin typeface="Mangal" panose="02040503050203030202" pitchFamily="18" charset="0"/>
                <a:ea typeface="Calibri" panose="020F0502020204030204" pitchFamily="34" charset="0"/>
              </a:rPr>
              <a:t> </a:t>
            </a:r>
            <a:r>
              <a:rPr lang="en-US" dirty="0" err="1">
                <a:solidFill>
                  <a:srgbClr val="000000"/>
                </a:solidFill>
                <a:latin typeface="Mangal" panose="02040503050203030202" pitchFamily="18" charset="0"/>
                <a:ea typeface="Calibri" panose="020F0502020204030204" pitchFamily="34" charset="0"/>
              </a:rPr>
              <a:t>पी</a:t>
            </a:r>
            <a:r>
              <a:rPr lang="en-US" dirty="0">
                <a:solidFill>
                  <a:srgbClr val="000000"/>
                </a:solidFill>
                <a:latin typeface="Mangal" panose="02040503050203030202" pitchFamily="18" charset="0"/>
                <a:ea typeface="Calibri" panose="020F0502020204030204" pitchFamily="34" charset="0"/>
              </a:rPr>
              <a:t> </a:t>
            </a:r>
            <a:r>
              <a:rPr lang="en-US" dirty="0" err="1">
                <a:solidFill>
                  <a:srgbClr val="000000"/>
                </a:solidFill>
                <a:latin typeface="Mangal" panose="02040503050203030202" pitchFamily="18" charset="0"/>
                <a:ea typeface="Calibri" panose="020F0502020204030204" pitchFamily="34" charset="0"/>
              </a:rPr>
              <a:t>डी</a:t>
            </a:r>
            <a:r>
              <a:rPr lang="en-US" dirty="0">
                <a:solidFill>
                  <a:srgbClr val="000000"/>
                </a:solidFill>
                <a:latin typeface="Nirmala UI" panose="020B0502040204020203" pitchFamily="34" charset="0"/>
                <a:ea typeface="Calibri" panose="020F0502020204030204" pitchFamily="34" charset="0"/>
              </a:rPr>
              <a:t> </a:t>
            </a:r>
            <a:r>
              <a:rPr lang="en-US" dirty="0" err="1">
                <a:solidFill>
                  <a:srgbClr val="000000"/>
                </a:solidFill>
                <a:latin typeface="Mangal" panose="02040503050203030202" pitchFamily="18" charset="0"/>
                <a:ea typeface="Calibri" panose="020F0502020204030204" pitchFamily="34" charset="0"/>
              </a:rPr>
              <a:t>संख्या</a:t>
            </a:r>
            <a:r>
              <a:rPr lang="en-US" dirty="0">
                <a:solidFill>
                  <a:srgbClr val="000000"/>
                </a:solidFill>
                <a:latin typeface="Nirmala UI" panose="020B0502040204020203" pitchFamily="34" charset="0"/>
                <a:ea typeface="Calibri" panose="020F0502020204030204" pitchFamily="34" charset="0"/>
              </a:rPr>
              <a:t>:</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मरीज़ संख्या:                                           संपर्क:</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 </a:t>
            </a:r>
            <a:endParaRPr lang="en-IN" dirty="0">
              <a:solidFill>
                <a:srgbClr val="000000"/>
              </a:solidFill>
              <a:latin typeface="Calibri" panose="020F0502020204030204" pitchFamily="34" charset="0"/>
              <a:ea typeface="Calibri" panose="020F0502020204030204" pitchFamily="34" charset="0"/>
            </a:endParaRPr>
          </a:p>
          <a:p>
            <a:pPr marL="342900" indent="-342900">
              <a:lnSpc>
                <a:spcPct val="107000"/>
              </a:lnSpc>
              <a:buFont typeface="Symbol" panose="05050102010706020507" pitchFamily="18" charset="2"/>
              <a:buChar char=""/>
            </a:pPr>
            <a:r>
              <a:rPr lang="en-US" dirty="0" err="1">
                <a:solidFill>
                  <a:srgbClr val="000000"/>
                </a:solidFill>
                <a:latin typeface="Mangal" panose="02040503050203030202" pitchFamily="18" charset="0"/>
                <a:ea typeface="Times New Roman" panose="02020603050405020304" pitchFamily="18" charset="0"/>
              </a:rPr>
              <a:t>अध्ययन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विवरण</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मुझे</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अपनी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भाषा</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समझाया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गया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Mangal" panose="02040503050203030202" pitchFamily="18" charset="0"/>
                <a:ea typeface="Times New Roman" panose="02020603050405020304" pitchFamily="18" charset="0"/>
              </a:rPr>
              <a:t>।</a:t>
            </a:r>
            <a:endParaRPr lang="en-IN" dirty="0">
              <a:solidFill>
                <a:srgbClr val="000000"/>
              </a:solidFill>
              <a:latin typeface="Calibri" panose="020F0502020204030204" pitchFamily="34" charset="0"/>
              <a:ea typeface="Calibri" panose="020F0502020204030204" pitchFamily="34" charset="0"/>
            </a:endParaRPr>
          </a:p>
          <a:p>
            <a:pPr marL="342900" indent="-342900">
              <a:lnSpc>
                <a:spcPct val="107000"/>
              </a:lnSpc>
              <a:buFont typeface="Symbol" panose="05050102010706020507" pitchFamily="18" charset="2"/>
              <a:buChar char=""/>
            </a:pP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पुष्टि</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करता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उपरोक्त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अध्ययन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समझ</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और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मुझे</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प्रश्न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पूछने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अवसर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मिला</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Mangal" panose="02040503050203030202" pitchFamily="18" charset="0"/>
                <a:ea typeface="Times New Roman" panose="02020603050405020304" pitchFamily="18" charset="0"/>
              </a:rPr>
              <a:t>।</a:t>
            </a:r>
            <a:endParaRPr lang="en-IN" dirty="0">
              <a:solidFill>
                <a:srgbClr val="000000"/>
              </a:solidFill>
              <a:latin typeface="Calibri" panose="020F0502020204030204" pitchFamily="34" charset="0"/>
              <a:ea typeface="Calibri" panose="020F0502020204030204" pitchFamily="34" charset="0"/>
            </a:endParaRPr>
          </a:p>
          <a:p>
            <a:pPr marL="342900" indent="-342900">
              <a:lnSpc>
                <a:spcPct val="107000"/>
              </a:lnSpc>
              <a:buFont typeface="Symbol" panose="05050102010706020507" pitchFamily="18" charset="2"/>
              <a:buChar char=""/>
            </a:pP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समझ</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गया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अध्ययन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भागीदारी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स्वैच्छिक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और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बिना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कोई</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कारण</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बताए</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किसी</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भी</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समय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वापस</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लिए</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स्वतंत्र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Mangal" panose="02040503050203030202" pitchFamily="18" charset="0"/>
                <a:ea typeface="Times New Roman" panose="02020603050405020304" pitchFamily="18" charset="0"/>
              </a:rPr>
              <a:t>।</a:t>
            </a:r>
            <a:endParaRPr lang="en-IN" dirty="0">
              <a:solidFill>
                <a:srgbClr val="000000"/>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870548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3218AF-EA80-3E48-315D-BABA012FD3D5}"/>
              </a:ext>
            </a:extLst>
          </p:cNvPr>
          <p:cNvSpPr txBox="1"/>
          <p:nvPr/>
        </p:nvSpPr>
        <p:spPr>
          <a:xfrm>
            <a:off x="116632" y="2183366"/>
            <a:ext cx="6480720" cy="4351832"/>
          </a:xfrm>
          <a:prstGeom prst="rect">
            <a:avLst/>
          </a:prstGeom>
          <a:noFill/>
        </p:spPr>
        <p:txBody>
          <a:bodyPr wrap="square">
            <a:spAutoFit/>
          </a:bodyPr>
          <a:lstStyle/>
          <a:p>
            <a:pPr marL="342900" indent="-342900">
              <a:lnSpc>
                <a:spcPct val="107000"/>
              </a:lnSpc>
              <a:buFont typeface="Symbol" panose="05050102010706020507" pitchFamily="18" charset="2"/>
              <a:buChar char=""/>
            </a:pP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इस</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अध्ययन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उत्पन्न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वाले</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किसी</a:t>
            </a:r>
            <a:r>
              <a:rPr lang="en-US" dirty="0">
                <a:solidFill>
                  <a:srgbClr val="000000"/>
                </a:solidFill>
                <a:latin typeface="Nirmala UI" panose="020B0502040204020203" pitchFamily="34"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भी</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डेटा</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परिणाम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उपयोग</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प्रतिबंधित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नहीं</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करने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सहमत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बशर्ते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ऐसा</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उपयोग</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केवल</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वैज्ञानिक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उद्देश्यों</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लिए</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हो।बशर्ते</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ऐसा</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उपयोग</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केवल</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वैज्ञानिक</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उद्देश्यों</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लिए</a:t>
            </a:r>
            <a:r>
              <a:rPr lang="en-US" dirty="0">
                <a:solidFill>
                  <a:srgbClr val="000000"/>
                </a:solidFill>
                <a:latin typeface="Mangal" panose="02040503050203030202"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Mangal" panose="02040503050203030202" pitchFamily="18" charset="0"/>
                <a:ea typeface="Times New Roman" panose="02020603050405020304" pitchFamily="18" charset="0"/>
              </a:rPr>
              <a:t>।</a:t>
            </a:r>
            <a:endParaRPr lang="en-IN" dirty="0">
              <a:solidFill>
                <a:srgbClr val="000000"/>
              </a:solidFill>
              <a:latin typeface="Calibri" panose="020F0502020204030204" pitchFamily="34" charset="0"/>
              <a:ea typeface="Calibri" panose="020F0502020204030204" pitchFamily="34" charset="0"/>
            </a:endParaRPr>
          </a:p>
          <a:p>
            <a:pPr marL="342900" indent="-342900">
              <a:lnSpc>
                <a:spcPct val="107000"/>
              </a:lnSpc>
              <a:spcAft>
                <a:spcPts val="800"/>
              </a:spcAft>
              <a:buFont typeface="Symbol" panose="05050102010706020507" pitchFamily="18" charset="2"/>
              <a:buChar char=""/>
            </a:pP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उपरोक्त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अध्ययन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में</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भाग</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लेने</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के</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लिए</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पूरी</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तरह</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सहमत</a:t>
            </a:r>
            <a:r>
              <a:rPr lang="en-US" dirty="0">
                <a:solidFill>
                  <a:srgbClr val="000000"/>
                </a:solidFill>
                <a:latin typeface="Times New Roman" panose="02020603050405020304" pitchFamily="18" charset="0"/>
                <a:ea typeface="Times New Roman" panose="02020603050405020304" pitchFamily="18" charset="0"/>
              </a:rPr>
              <a:t> </a:t>
            </a:r>
            <a:r>
              <a:rPr lang="en-US" dirty="0" err="1">
                <a:solidFill>
                  <a:srgbClr val="000000"/>
                </a:solidFill>
                <a:latin typeface="Mangal" panose="02040503050203030202" pitchFamily="18" charset="0"/>
                <a:ea typeface="Times New Roman" panose="02020603050405020304" pitchFamily="18" charset="0"/>
              </a:rPr>
              <a:t>हूं</a:t>
            </a:r>
            <a:r>
              <a:rPr lang="en-US" dirty="0">
                <a:solidFill>
                  <a:srgbClr val="000000"/>
                </a:solidFill>
                <a:latin typeface="Mangal" panose="02040503050203030202" pitchFamily="18" charset="0"/>
                <a:ea typeface="Times New Roman" panose="02020603050405020304" pitchFamily="18" charset="0"/>
              </a:rPr>
              <a:t>।</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endParaRPr lang="en-US" dirty="0">
              <a:solidFill>
                <a:srgbClr val="000000"/>
              </a:solidFill>
              <a:latin typeface="Calibri" panose="020F0502020204030204" pitchFamily="34" charset="0"/>
              <a:ea typeface="Calibri" panose="020F0502020204030204" pitchFamily="34" charset="0"/>
              <a:cs typeface="Nirmala UI" panose="020B0502040204020203" pitchFamily="34" charset="0"/>
            </a:endParaRPr>
          </a:p>
          <a:p>
            <a:pPr>
              <a:lnSpc>
                <a:spcPct val="107000"/>
              </a:lnSpc>
              <a:spcAft>
                <a:spcPts val="800"/>
              </a:spcAft>
            </a:pPr>
            <a:endParaRPr lang="en-US" dirty="0">
              <a:solidFill>
                <a:srgbClr val="000000"/>
              </a:solidFill>
              <a:latin typeface="Calibri" panose="020F0502020204030204" pitchFamily="34" charset="0"/>
              <a:ea typeface="Calibri" panose="020F0502020204030204" pitchFamily="34" charset="0"/>
              <a:cs typeface="Nirmala UI" panose="020B0502040204020203"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मरीज़ का नाम:                                                        हस्ताक्षर</a:t>
            </a:r>
            <a:r>
              <a:rPr lang="en-US" dirty="0">
                <a:solidFill>
                  <a:srgbClr val="000000"/>
                </a:solidFill>
                <a:latin typeface="Nirmala UI" panose="020B0502040204020203" pitchFamily="34" charset="0"/>
                <a:ea typeface="Calibri" panose="020F0502020204030204" pitchFamily="34" charset="0"/>
              </a:rPr>
              <a:t>:</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दिनांक:</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 </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अन्वेषक का नाम</a:t>
            </a:r>
            <a:r>
              <a:rPr lang="en-US" dirty="0">
                <a:solidFill>
                  <a:srgbClr val="000000"/>
                </a:solidFill>
                <a:latin typeface="Nirmala UI" panose="020B0502040204020203" pitchFamily="34" charset="0"/>
                <a:ea typeface="Calibri" panose="020F0502020204030204" pitchFamily="34" charset="0"/>
              </a:rPr>
              <a:t>:                                                    </a:t>
            </a: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हस्ताक्षर</a:t>
            </a:r>
            <a:r>
              <a:rPr lang="en-US" dirty="0">
                <a:solidFill>
                  <a:srgbClr val="000000"/>
                </a:solidFill>
                <a:latin typeface="Nirmala UI" panose="020B0502040204020203" pitchFamily="34" charset="0"/>
                <a:ea typeface="Calibri" panose="020F0502020204030204" pitchFamily="34" charset="0"/>
              </a:rPr>
              <a:t>:</a:t>
            </a:r>
            <a:endParaRPr lang="en-IN" dirty="0">
              <a:solidFill>
                <a:srgbClr val="000000"/>
              </a:solidFill>
              <a:latin typeface="Calibri" panose="020F0502020204030204" pitchFamily="34" charset="0"/>
              <a:ea typeface="Calibri" panose="020F0502020204030204" pitchFamily="34" charset="0"/>
            </a:endParaRPr>
          </a:p>
          <a:p>
            <a:pPr>
              <a:lnSpc>
                <a:spcPct val="107000"/>
              </a:lnSpc>
              <a:spcAft>
                <a:spcPts val="800"/>
              </a:spcAft>
            </a:pPr>
            <a:r>
              <a:rPr lang="hi-IN" dirty="0">
                <a:solidFill>
                  <a:srgbClr val="000000"/>
                </a:solidFill>
                <a:latin typeface="Calibri" panose="020F0502020204030204" pitchFamily="34" charset="0"/>
                <a:ea typeface="Calibri" panose="020F0502020204030204" pitchFamily="34" charset="0"/>
                <a:cs typeface="Nirmala UI" panose="020B0502040204020203" pitchFamily="34" charset="0"/>
              </a:rPr>
              <a:t>दिनांक:</a:t>
            </a:r>
            <a:endParaRPr lang="en-IN" dirty="0"/>
          </a:p>
        </p:txBody>
      </p:sp>
    </p:spTree>
    <p:extLst>
      <p:ext uri="{BB962C8B-B14F-4D97-AF65-F5344CB8AC3E}">
        <p14:creationId xmlns:p14="http://schemas.microsoft.com/office/powerpoint/2010/main" val="540768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6289" y="0"/>
            <a:ext cx="6771711" cy="8956298"/>
          </a:xfrm>
          <a:prstGeom prst="rect">
            <a:avLst/>
          </a:prstGeom>
        </p:spPr>
        <p:txBody>
          <a:bodyPr wrap="square">
            <a:spAutoFit/>
          </a:bodyPr>
          <a:lstStyle/>
          <a:p>
            <a:pPr lvl="0"/>
            <a:r>
              <a:rPr lang="en-IN" dirty="0"/>
              <a:t>REFERENCES:</a:t>
            </a:r>
          </a:p>
          <a:p>
            <a:pPr marL="342900" lvl="0" indent="-342900">
              <a:buFont typeface="Arial" panose="020B0604020202020204" pitchFamily="34" charset="0"/>
              <a:buChar char="•"/>
            </a:pPr>
            <a:r>
              <a:rPr lang="en-IN" dirty="0"/>
              <a:t>Duke-Elder S, Abrams D. Duke-Elder's Practice of Refraction. 10th ed. New Delhi: Elsevier India; 1993. p. 65. ISBN: 978-8131233337.</a:t>
            </a:r>
          </a:p>
          <a:p>
            <a:pPr marL="342900" lvl="0" indent="-342900">
              <a:buFont typeface="Arial" panose="020B0604020202020204" pitchFamily="34" charset="0"/>
              <a:buChar char="•"/>
            </a:pPr>
            <a:r>
              <a:rPr lang="en-IN" dirty="0"/>
              <a:t>Hoffer KJ. Biometry of 7,500 </a:t>
            </a:r>
            <a:r>
              <a:rPr lang="en-IN" dirty="0" err="1"/>
              <a:t>cataractous</a:t>
            </a:r>
            <a:r>
              <a:rPr lang="en-IN" dirty="0"/>
              <a:t> eyes. Am J </a:t>
            </a:r>
            <a:r>
              <a:rPr lang="en-IN" dirty="0" err="1"/>
              <a:t>Ophthalmol</a:t>
            </a:r>
            <a:r>
              <a:rPr lang="en-IN" dirty="0"/>
              <a:t>. 1980 Sep;90(3):360-8. </a:t>
            </a:r>
            <a:r>
              <a:rPr lang="en-IN" dirty="0" err="1"/>
              <a:t>doi</a:t>
            </a:r>
            <a:r>
              <a:rPr lang="en-IN" dirty="0"/>
              <a:t>: 10.1016/s0002-9394(14)74917-7. PMID: 7425052.</a:t>
            </a:r>
          </a:p>
          <a:p>
            <a:pPr marL="342900" lvl="0" indent="-342900">
              <a:buFont typeface="Arial" panose="020B0604020202020204" pitchFamily="34" charset="0"/>
              <a:buChar char="•"/>
            </a:pPr>
            <a:r>
              <a:rPr lang="en-IN" dirty="0" err="1"/>
              <a:t>Nichamin</a:t>
            </a:r>
            <a:r>
              <a:rPr lang="en-IN" dirty="0"/>
              <a:t> LD. Astigmatism control. </a:t>
            </a:r>
            <a:r>
              <a:rPr lang="en-IN" dirty="0" err="1"/>
              <a:t>Ophthalmol</a:t>
            </a:r>
            <a:r>
              <a:rPr lang="en-IN" dirty="0"/>
              <a:t> </a:t>
            </a:r>
            <a:r>
              <a:rPr lang="en-IN" dirty="0" err="1"/>
              <a:t>Clin</a:t>
            </a:r>
            <a:r>
              <a:rPr lang="en-IN" dirty="0"/>
              <a:t> North Am. 2006 Dec;19(4):485-93. </a:t>
            </a:r>
            <a:r>
              <a:rPr lang="en-IN" dirty="0" err="1"/>
              <a:t>doi</a:t>
            </a:r>
            <a:r>
              <a:rPr lang="en-IN" dirty="0"/>
              <a:t>: 10.1016/j.ohc.2006.07.004. PMID: 17067903.</a:t>
            </a:r>
          </a:p>
          <a:p>
            <a:pPr marL="342900" lvl="0" indent="-342900">
              <a:buFont typeface="Arial" panose="020B0604020202020204" pitchFamily="34" charset="0"/>
              <a:buChar char="•"/>
            </a:pPr>
            <a:r>
              <a:rPr lang="en-IN" dirty="0"/>
              <a:t>Chen W, </a:t>
            </a:r>
            <a:r>
              <a:rPr lang="en-IN" dirty="0" err="1"/>
              <a:t>Zuo</a:t>
            </a:r>
            <a:r>
              <a:rPr lang="en-IN" dirty="0"/>
              <a:t> C, Chen C, Su J, Luo L, Congdon N, et al. Prevalence of corneal astigmatism before cataract surgery in Chinese patients. J Cataract Refract Surg. 2013 Feb;39(2):188-92. </a:t>
            </a:r>
            <a:r>
              <a:rPr lang="en-IN" dirty="0" err="1"/>
              <a:t>doi</a:t>
            </a:r>
            <a:r>
              <a:rPr lang="en-IN" dirty="0"/>
              <a:t>: 10.1016/j.jcrs.2012.08.060. PMID: 23332248.</a:t>
            </a:r>
          </a:p>
          <a:p>
            <a:pPr marL="342900" lvl="0" indent="-342900">
              <a:buFont typeface="Arial" panose="020B0604020202020204" pitchFamily="34" charset="0"/>
              <a:buChar char="•"/>
            </a:pPr>
            <a:r>
              <a:rPr lang="en-IN" dirty="0"/>
              <a:t>Ferrer-</a:t>
            </a:r>
            <a:r>
              <a:rPr lang="en-IN" dirty="0" err="1"/>
              <a:t>Blasco</a:t>
            </a:r>
            <a:r>
              <a:rPr lang="en-IN" dirty="0"/>
              <a:t> T, </a:t>
            </a:r>
            <a:r>
              <a:rPr lang="en-IN" dirty="0" err="1"/>
              <a:t>Montés-Micó</a:t>
            </a:r>
            <a:r>
              <a:rPr lang="en-IN" dirty="0"/>
              <a:t> R, </a:t>
            </a:r>
            <a:r>
              <a:rPr lang="en-IN" dirty="0" err="1"/>
              <a:t>Peixoto</a:t>
            </a:r>
            <a:r>
              <a:rPr lang="en-IN" dirty="0"/>
              <a:t>-de-Matos SC, González-</a:t>
            </a:r>
            <a:r>
              <a:rPr lang="en-IN" dirty="0" err="1"/>
              <a:t>Méijome</a:t>
            </a:r>
            <a:r>
              <a:rPr lang="en-IN" dirty="0"/>
              <a:t> JM, </a:t>
            </a:r>
            <a:r>
              <a:rPr lang="en-IN" dirty="0" err="1"/>
              <a:t>Cerviño</a:t>
            </a:r>
            <a:r>
              <a:rPr lang="en-IN" dirty="0"/>
              <a:t> A. Prevalence of corneal astigmatism before cataract surgery. J Cataract Refract Surg. 2009 Jan;35(1):70-5. </a:t>
            </a:r>
            <a:r>
              <a:rPr lang="en-IN" dirty="0" err="1"/>
              <a:t>doi</a:t>
            </a:r>
            <a:r>
              <a:rPr lang="en-IN" dirty="0"/>
              <a:t>: 10.1016/j.jcrs.2008.09.027. PMID: 19101427.</a:t>
            </a:r>
          </a:p>
          <a:p>
            <a:pPr marL="342900" lvl="0" indent="-342900">
              <a:buFont typeface="Arial" panose="020B0604020202020204" pitchFamily="34" charset="0"/>
              <a:buChar char="•"/>
            </a:pPr>
            <a:r>
              <a:rPr lang="en-IN" dirty="0"/>
              <a:t>Hoffmann PC, </a:t>
            </a:r>
            <a:r>
              <a:rPr lang="en-IN" dirty="0" err="1"/>
              <a:t>Hütz</a:t>
            </a:r>
            <a:r>
              <a:rPr lang="en-IN" dirty="0"/>
              <a:t> W. Analysis of biometry and prevalence data for corneal astigmatism in 23,239 eyes. J Cataract Refract Surg. 2010 Sep;36(9):1479-85. </a:t>
            </a:r>
            <a:r>
              <a:rPr lang="en-IN" dirty="0" err="1"/>
              <a:t>doi</a:t>
            </a:r>
            <a:r>
              <a:rPr lang="en-IN" dirty="0"/>
              <a:t>: 10.1016/j.jcrs.2010.02.025. PMID: 20692558.</a:t>
            </a:r>
          </a:p>
          <a:p>
            <a:pPr marL="342900" lvl="0" indent="-342900">
              <a:buFont typeface="Arial" panose="020B0604020202020204" pitchFamily="34" charset="0"/>
              <a:buChar char="•"/>
            </a:pPr>
            <a:r>
              <a:rPr lang="en-IN" dirty="0" err="1"/>
              <a:t>Morlet</a:t>
            </a:r>
            <a:r>
              <a:rPr lang="en-IN" dirty="0"/>
              <a:t> N, </a:t>
            </a:r>
            <a:r>
              <a:rPr lang="en-IN" dirty="0" err="1"/>
              <a:t>Minassian</a:t>
            </a:r>
            <a:r>
              <a:rPr lang="en-IN" dirty="0"/>
              <a:t> D, Dart J. Astigmatism and the analysis of its surgical correction. Br J </a:t>
            </a:r>
            <a:r>
              <a:rPr lang="en-IN" dirty="0" err="1"/>
              <a:t>Ophthalmol</a:t>
            </a:r>
            <a:r>
              <a:rPr lang="en-IN" dirty="0"/>
              <a:t>. 2001 Oct;85(10):1127-38. </a:t>
            </a:r>
            <a:r>
              <a:rPr lang="en-IN" dirty="0" err="1"/>
              <a:t>doi</a:t>
            </a:r>
            <a:r>
              <a:rPr lang="en-IN" dirty="0"/>
              <a:t>: 10.1136/bjo.85.10.1127. PMID: 11568060.</a:t>
            </a:r>
          </a:p>
          <a:p>
            <a:pPr marL="342900" lvl="0" indent="-342900">
              <a:buFont typeface="Arial" panose="020B0604020202020204" pitchFamily="34" charset="0"/>
              <a:buChar char="•"/>
            </a:pPr>
            <a:r>
              <a:rPr lang="en-IN" dirty="0"/>
              <a:t>Bradbury JA, Hillman JS, Cassells-Brown A. Optimal postoperative refraction for good unaided near and distance vision with </a:t>
            </a:r>
            <a:r>
              <a:rPr lang="en-IN" dirty="0" err="1"/>
              <a:t>monofocal</a:t>
            </a:r>
            <a:r>
              <a:rPr lang="en-IN" dirty="0"/>
              <a:t> intraocular lenses. Br J </a:t>
            </a:r>
            <a:r>
              <a:rPr lang="en-IN" dirty="0" err="1"/>
              <a:t>Ophthalmol</a:t>
            </a:r>
            <a:r>
              <a:rPr lang="en-IN" dirty="0"/>
              <a:t>. 1992 May;76(5):300-2. </a:t>
            </a:r>
            <a:r>
              <a:rPr lang="en-IN" dirty="0" err="1"/>
              <a:t>doi</a:t>
            </a:r>
            <a:r>
              <a:rPr lang="en-IN" dirty="0"/>
              <a:t>: 10.1136/bjo.76.5.300. PMID: 1390515.</a:t>
            </a:r>
          </a:p>
          <a:p>
            <a:pPr marL="342900" lvl="0" indent="-342900">
              <a:buFont typeface="Arial" panose="020B0604020202020204" pitchFamily="34" charset="0"/>
              <a:buChar char="•"/>
            </a:pPr>
            <a:r>
              <a:rPr lang="en-IN" dirty="0" err="1"/>
              <a:t>Flaxel</a:t>
            </a:r>
            <a:r>
              <a:rPr lang="en-IN" dirty="0"/>
              <a:t> JT, Swan KC. </a:t>
            </a:r>
            <a:r>
              <a:rPr lang="en-IN" dirty="0" err="1"/>
              <a:t>Limbal</a:t>
            </a:r>
            <a:r>
              <a:rPr lang="en-IN" dirty="0"/>
              <a:t> wound healing after cataract extraction: a histologic study. Arch </a:t>
            </a:r>
            <a:r>
              <a:rPr lang="en-IN" dirty="0" err="1"/>
              <a:t>Ophthalmol</a:t>
            </a:r>
            <a:r>
              <a:rPr lang="en-IN" dirty="0"/>
              <a:t>. 1969 Nov;82(5):655-8. </a:t>
            </a:r>
            <a:r>
              <a:rPr lang="en-IN" dirty="0" err="1"/>
              <a:t>doi</a:t>
            </a:r>
            <a:r>
              <a:rPr lang="en-IN" dirty="0"/>
              <a:t>: 10.1001/archopht.1969.00990010655010. PMID: 578174</a:t>
            </a:r>
          </a:p>
          <a:p>
            <a:pPr lvl="0"/>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1F8A94-28ED-BE63-01F9-792F810E96C8}"/>
              </a:ext>
            </a:extLst>
          </p:cNvPr>
          <p:cNvSpPr txBox="1"/>
          <p:nvPr/>
        </p:nvSpPr>
        <p:spPr>
          <a:xfrm>
            <a:off x="132184" y="0"/>
            <a:ext cx="6725816" cy="646331"/>
          </a:xfrm>
          <a:prstGeom prst="rect">
            <a:avLst/>
          </a:prstGeom>
          <a:noFill/>
        </p:spPr>
        <p:txBody>
          <a:bodyPr wrap="square">
            <a:spAutoFit/>
          </a:bodyPr>
          <a:lstStyle/>
          <a:p>
            <a:pPr lvl="0" rtl="0"/>
            <a:endParaRPr lang="en-IN" dirty="0"/>
          </a:p>
          <a:p>
            <a:pPr lvl="0" rtl="0"/>
            <a:endParaRPr lang="en-IN" dirty="0"/>
          </a:p>
        </p:txBody>
      </p:sp>
      <p:sp>
        <p:nvSpPr>
          <p:cNvPr id="6" name="TextBox 5">
            <a:extLst>
              <a:ext uri="{FF2B5EF4-FFF2-40B4-BE49-F238E27FC236}">
                <a16:creationId xmlns:a16="http://schemas.microsoft.com/office/drawing/2014/main" id="{E29BB244-E304-73EC-2601-0F9E51B53D18}"/>
              </a:ext>
            </a:extLst>
          </p:cNvPr>
          <p:cNvSpPr txBox="1"/>
          <p:nvPr/>
        </p:nvSpPr>
        <p:spPr>
          <a:xfrm>
            <a:off x="0" y="0"/>
            <a:ext cx="6858000" cy="8679299"/>
          </a:xfrm>
          <a:prstGeom prst="rect">
            <a:avLst/>
          </a:prstGeom>
          <a:noFill/>
        </p:spPr>
        <p:txBody>
          <a:bodyPr wrap="square">
            <a:spAutoFit/>
          </a:bodyPr>
          <a:lstStyle/>
          <a:p>
            <a:pPr>
              <a:buNone/>
            </a:pPr>
            <a:endParaRPr lang="en-IN" dirty="0"/>
          </a:p>
          <a:p>
            <a:pPr marL="342900" lvl="0" indent="-342900">
              <a:buFont typeface="Arial" panose="020B0604020202020204" pitchFamily="34" charset="0"/>
              <a:buChar char="•"/>
            </a:pPr>
            <a:r>
              <a:rPr lang="en-IN" dirty="0"/>
              <a:t>Pershing S, Kumar A. Phacoemulsification versus </a:t>
            </a:r>
            <a:r>
              <a:rPr lang="en-IN" dirty="0" err="1"/>
              <a:t>extracapsular</a:t>
            </a:r>
            <a:r>
              <a:rPr lang="en-IN" dirty="0"/>
              <a:t> cataract extraction: where do we stand? </a:t>
            </a:r>
            <a:r>
              <a:rPr lang="en-IN" dirty="0" err="1"/>
              <a:t>Curr</a:t>
            </a:r>
            <a:r>
              <a:rPr lang="en-IN" dirty="0"/>
              <a:t> </a:t>
            </a:r>
            <a:r>
              <a:rPr lang="en-IN" dirty="0" err="1"/>
              <a:t>Opin</a:t>
            </a:r>
            <a:r>
              <a:rPr lang="en-IN" dirty="0"/>
              <a:t> </a:t>
            </a:r>
            <a:r>
              <a:rPr lang="en-IN" dirty="0" err="1"/>
              <a:t>Ophthalmol</a:t>
            </a:r>
            <a:r>
              <a:rPr lang="en-IN" dirty="0"/>
              <a:t>. 2011 Jan;22(1):37-42. </a:t>
            </a:r>
            <a:r>
              <a:rPr lang="en-IN" dirty="0" err="1"/>
              <a:t>doi</a:t>
            </a:r>
            <a:r>
              <a:rPr lang="en-IN" dirty="0"/>
              <a:t>: 10.1097/ICU.0b013e3283414fb3. PMID: 21088578.</a:t>
            </a:r>
          </a:p>
          <a:p>
            <a:pPr marL="342900" lvl="0" indent="-342900">
              <a:buFont typeface="Arial" panose="020B0604020202020204" pitchFamily="34" charset="0"/>
              <a:buChar char="•"/>
            </a:pPr>
            <a:r>
              <a:rPr lang="en-IN" dirty="0" err="1"/>
              <a:t>Gogate</a:t>
            </a:r>
            <a:r>
              <a:rPr lang="en-IN" dirty="0"/>
              <a:t> P, Deshpande M, </a:t>
            </a:r>
            <a:r>
              <a:rPr lang="en-IN" dirty="0" err="1"/>
              <a:t>Nirmalan</a:t>
            </a:r>
            <a:r>
              <a:rPr lang="en-IN" dirty="0"/>
              <a:t> PK. Why do phacoemulsification? Manual small-incision cataract surgery is almost as effective, but less expensive. Ophthalmology. 2007 May;114(5):965-8. </a:t>
            </a:r>
            <a:r>
              <a:rPr lang="en-IN" dirty="0" err="1"/>
              <a:t>doi</a:t>
            </a:r>
            <a:r>
              <a:rPr lang="en-IN" dirty="0"/>
              <a:t>: 10.1016/j.ophtha.2006.09.029. PMID: 17336389.</a:t>
            </a:r>
          </a:p>
          <a:p>
            <a:pPr marL="342900" lvl="0" indent="-342900">
              <a:buFont typeface="Arial" panose="020B0604020202020204" pitchFamily="34" charset="0"/>
              <a:buChar char="•"/>
            </a:pPr>
            <a:r>
              <a:rPr lang="en-IN" dirty="0" err="1"/>
              <a:t>Haripriya</a:t>
            </a:r>
            <a:r>
              <a:rPr lang="en-IN" dirty="0"/>
              <a:t> A, Chang DF, </a:t>
            </a:r>
            <a:r>
              <a:rPr lang="en-IN" dirty="0" err="1"/>
              <a:t>Mascarenhas</a:t>
            </a:r>
            <a:r>
              <a:rPr lang="en-IN" dirty="0"/>
              <a:t> R, </a:t>
            </a:r>
            <a:r>
              <a:rPr lang="en-IN" dirty="0" err="1"/>
              <a:t>Shekhar</a:t>
            </a:r>
            <a:r>
              <a:rPr lang="en-IN" dirty="0"/>
              <a:t> M. Complication rates of phacoemulsification and manual small-incision cataract surgery at </a:t>
            </a:r>
            <a:r>
              <a:rPr lang="en-IN" dirty="0" err="1"/>
              <a:t>Aravind</a:t>
            </a:r>
            <a:r>
              <a:rPr lang="en-IN" dirty="0"/>
              <a:t> Eye Hospital. J Cataract Refract Surg. 2012 Aug;38(8):1360-9. </a:t>
            </a:r>
            <a:r>
              <a:rPr lang="en-IN" dirty="0" err="1"/>
              <a:t>doi</a:t>
            </a:r>
            <a:r>
              <a:rPr lang="en-IN" dirty="0"/>
              <a:t>: 10.1016/j.jcrs.2012.04.025. PMID: 22814042.</a:t>
            </a:r>
          </a:p>
          <a:p>
            <a:pPr marL="342900" lvl="0" indent="-342900">
              <a:buFont typeface="Arial" panose="020B0604020202020204" pitchFamily="34" charset="0"/>
              <a:buChar char="•"/>
            </a:pPr>
            <a:r>
              <a:rPr lang="en-IN" dirty="0" err="1"/>
              <a:t>Tabin</a:t>
            </a:r>
            <a:r>
              <a:rPr lang="en-IN" dirty="0"/>
              <a:t> G, Chen M, </a:t>
            </a:r>
            <a:r>
              <a:rPr lang="en-IN" dirty="0" err="1"/>
              <a:t>Espandar</a:t>
            </a:r>
            <a:r>
              <a:rPr lang="en-IN" dirty="0"/>
              <a:t> L. Cataract surgery for the developing world. </a:t>
            </a:r>
            <a:r>
              <a:rPr lang="en-IN" dirty="0" err="1"/>
              <a:t>Curr</a:t>
            </a:r>
            <a:r>
              <a:rPr lang="en-IN" dirty="0"/>
              <a:t> </a:t>
            </a:r>
            <a:r>
              <a:rPr lang="en-IN" dirty="0" err="1"/>
              <a:t>Opin</a:t>
            </a:r>
            <a:r>
              <a:rPr lang="en-IN" dirty="0"/>
              <a:t> </a:t>
            </a:r>
            <a:r>
              <a:rPr lang="en-IN" dirty="0" err="1"/>
              <a:t>Ophthalmol</a:t>
            </a:r>
            <a:r>
              <a:rPr lang="en-IN" dirty="0"/>
              <a:t>. 2008 Jan;19(1):55-9. </a:t>
            </a:r>
            <a:r>
              <a:rPr lang="en-IN" dirty="0" err="1"/>
              <a:t>doi</a:t>
            </a:r>
            <a:r>
              <a:rPr lang="en-IN" dirty="0"/>
              <a:t>: 10.1097/ICU.0b013e3282f323f8. PMID: 18192807.</a:t>
            </a:r>
          </a:p>
          <a:p>
            <a:pPr marL="342900" lvl="0" indent="-342900">
              <a:buFont typeface="Arial" panose="020B0604020202020204" pitchFamily="34" charset="0"/>
              <a:buChar char="•"/>
            </a:pPr>
            <a:r>
              <a:rPr lang="en-IN" dirty="0" err="1"/>
              <a:t>Ruit</a:t>
            </a:r>
            <a:r>
              <a:rPr lang="en-IN" dirty="0"/>
              <a:t> S, </a:t>
            </a:r>
            <a:r>
              <a:rPr lang="en-IN" dirty="0" err="1"/>
              <a:t>Tabin</a:t>
            </a:r>
            <a:r>
              <a:rPr lang="en-IN" dirty="0"/>
              <a:t> G, Chang D, </a:t>
            </a:r>
            <a:r>
              <a:rPr lang="en-IN" dirty="0" err="1"/>
              <a:t>Bajracharya</a:t>
            </a:r>
            <a:r>
              <a:rPr lang="en-IN" dirty="0"/>
              <a:t> L, Kline DC, </a:t>
            </a:r>
            <a:r>
              <a:rPr lang="en-IN" dirty="0" err="1"/>
              <a:t>Richheimer</a:t>
            </a:r>
            <a:r>
              <a:rPr lang="en-IN" dirty="0"/>
              <a:t> R, et al. A prospective randomized clinical trial of phacoemulsification vs manual </a:t>
            </a:r>
            <a:r>
              <a:rPr lang="en-IN" dirty="0" err="1"/>
              <a:t>sutureless</a:t>
            </a:r>
            <a:r>
              <a:rPr lang="en-IN" dirty="0"/>
              <a:t> small-incision </a:t>
            </a:r>
            <a:r>
              <a:rPr lang="en-IN" dirty="0" err="1"/>
              <a:t>extracapsular</a:t>
            </a:r>
            <a:r>
              <a:rPr lang="en-IN" dirty="0"/>
              <a:t> cataract surgery in Nepal. Am J </a:t>
            </a:r>
            <a:r>
              <a:rPr lang="en-IN" dirty="0" err="1"/>
              <a:t>Ophthalmol</a:t>
            </a:r>
            <a:r>
              <a:rPr lang="en-IN" dirty="0"/>
              <a:t>. 2007 Jan;143(1):32-8. </a:t>
            </a:r>
            <a:r>
              <a:rPr lang="en-IN" dirty="0" err="1"/>
              <a:t>doi</a:t>
            </a:r>
            <a:r>
              <a:rPr lang="en-IN" dirty="0"/>
              <a:t>: 10.1016/j.ajo.2006.07.023. PMID: 17188040.</a:t>
            </a:r>
          </a:p>
          <a:p>
            <a:pPr marL="342900" lvl="0" indent="-342900">
              <a:buFont typeface="Arial" panose="020B0604020202020204" pitchFamily="34" charset="0"/>
              <a:buChar char="•"/>
            </a:pPr>
            <a:r>
              <a:rPr lang="en-IN" dirty="0" err="1"/>
              <a:t>Gogate</a:t>
            </a:r>
            <a:r>
              <a:rPr lang="en-IN" dirty="0"/>
              <a:t> PM. Small incision cataract surgery: complications and mini review. Indian J </a:t>
            </a:r>
            <a:r>
              <a:rPr lang="en-IN" dirty="0" err="1"/>
              <a:t>Ophthalmol</a:t>
            </a:r>
            <a:r>
              <a:rPr lang="en-IN" dirty="0"/>
              <a:t>. 2009 Jan-Feb;57(1):45-9. </a:t>
            </a:r>
            <a:r>
              <a:rPr lang="en-IN" dirty="0" err="1"/>
              <a:t>doi</a:t>
            </a:r>
            <a:r>
              <a:rPr lang="en-IN" dirty="0"/>
              <a:t>: 10.4103/0301-4738.44512. PMID: 19075409.</a:t>
            </a:r>
          </a:p>
          <a:p>
            <a:pPr marL="342900" lvl="0" indent="-342900">
              <a:buFont typeface="Arial" panose="020B0604020202020204" pitchFamily="34" charset="0"/>
              <a:buChar char="•"/>
            </a:pPr>
            <a:r>
              <a:rPr lang="en-IN" dirty="0" err="1"/>
              <a:t>Jha</a:t>
            </a:r>
            <a:r>
              <a:rPr lang="en-IN" dirty="0"/>
              <a:t> KN, Vats DP. Manual small incision cataract surgery: experience at a military hospital. Med J Armed Forces India. 2006 Jul;62(3):212-5. </a:t>
            </a:r>
            <a:r>
              <a:rPr lang="en-IN" dirty="0" err="1"/>
              <a:t>doi</a:t>
            </a:r>
            <a:r>
              <a:rPr lang="en-IN" dirty="0"/>
              <a:t>: 10.1016/S0377-1237(06)80002-3. PMID: 27407886.</a:t>
            </a:r>
          </a:p>
          <a:p>
            <a:pPr marL="342900" lvl="0" indent="-342900">
              <a:buFont typeface="Arial" panose="020B0604020202020204" pitchFamily="34" charset="0"/>
              <a:buChar char="•"/>
            </a:pPr>
            <a:r>
              <a:rPr lang="en-IN" dirty="0" err="1"/>
              <a:t>Yorston</a:t>
            </a:r>
            <a:r>
              <a:rPr lang="en-IN" dirty="0"/>
              <a:t> D, Foster A, Wood M. Does prospective monitoring improve cataract surgery outcomes in Africa? Br J </a:t>
            </a:r>
            <a:r>
              <a:rPr lang="en-IN" dirty="0" err="1"/>
              <a:t>Ophthalmol</a:t>
            </a:r>
            <a:r>
              <a:rPr lang="en-IN" dirty="0"/>
              <a:t>. 2002 May;86(5):543-7. </a:t>
            </a:r>
            <a:r>
              <a:rPr lang="en-IN" dirty="0" err="1"/>
              <a:t>doi</a:t>
            </a:r>
            <a:r>
              <a:rPr lang="en-IN" dirty="0"/>
              <a:t>: 10.1136/bjo.86.5.543. PMID: 11973252.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BE94DB-31CA-4FB8-CFB5-2905D61F5E31}"/>
              </a:ext>
            </a:extLst>
          </p:cNvPr>
          <p:cNvSpPr txBox="1"/>
          <p:nvPr/>
        </p:nvSpPr>
        <p:spPr>
          <a:xfrm>
            <a:off x="113503" y="114971"/>
            <a:ext cx="6630994" cy="1477328"/>
          </a:xfrm>
          <a:prstGeom prst="rect">
            <a:avLst/>
          </a:prstGeom>
          <a:noFill/>
        </p:spPr>
        <p:txBody>
          <a:bodyPr wrap="square">
            <a:spAutoFit/>
          </a:bodyPr>
          <a:lstStyle/>
          <a:p>
            <a:pPr marL="342900" lvl="0" indent="-342900" rtl="0">
              <a:buFont typeface="Arial" panose="020B0604020202020204" pitchFamily="34" charset="0"/>
              <a:buChar char="•"/>
            </a:pPr>
            <a:r>
              <a:rPr lang="en-IN" dirty="0"/>
              <a:t>Roman SJ, </a:t>
            </a:r>
            <a:r>
              <a:rPr lang="en-IN" dirty="0" err="1"/>
              <a:t>Auclin</a:t>
            </a:r>
            <a:r>
              <a:rPr lang="en-IN" dirty="0"/>
              <a:t> FX, Chong-Sit DA, </a:t>
            </a:r>
            <a:r>
              <a:rPr lang="en-IN" dirty="0" err="1"/>
              <a:t>Ullern</a:t>
            </a:r>
            <a:r>
              <a:rPr lang="en-IN" dirty="0"/>
              <a:t> MM. Surgically induced astigmatism with superior and temporal incisions in cases of with-the-rule preoperative astigmatism. J Cataract Refract Surg. 1998 Dec;24(12):1636-41. </a:t>
            </a:r>
            <a:r>
              <a:rPr lang="en-IN" dirty="0" err="1"/>
              <a:t>doi</a:t>
            </a:r>
            <a:r>
              <a:rPr lang="en-IN" dirty="0"/>
              <a:t>: 10.1016/s0886-3350(98)80356-8. PMID: 9850904.</a:t>
            </a:r>
          </a:p>
        </p:txBody>
      </p:sp>
    </p:spTree>
    <p:extLst>
      <p:ext uri="{BB962C8B-B14F-4D97-AF65-F5344CB8AC3E}">
        <p14:creationId xmlns:p14="http://schemas.microsoft.com/office/powerpoint/2010/main" val="1302587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descr="Creative Thank You Presentation Template - SlideKit"/>
          <p:cNvSpPr>
            <a:spLocks noChangeAspect="1" noChangeArrowheads="1"/>
          </p:cNvSpPr>
          <p:nvPr/>
        </p:nvSpPr>
        <p:spPr bwMode="auto">
          <a:xfrm>
            <a:off x="-987425" y="998538"/>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8676" name="AutoShape 4" descr="Creative Thank You Presentation Template - SlideKit"/>
          <p:cNvSpPr>
            <a:spLocks noChangeAspect="1" noChangeArrowheads="1"/>
          </p:cNvSpPr>
          <p:nvPr/>
        </p:nvSpPr>
        <p:spPr bwMode="auto">
          <a:xfrm>
            <a:off x="-987425" y="998538"/>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8678" name="AutoShape 6" descr="Creative Thank You Presentation Template - SlideKit"/>
          <p:cNvSpPr>
            <a:spLocks noChangeAspect="1" noChangeArrowheads="1"/>
          </p:cNvSpPr>
          <p:nvPr/>
        </p:nvSpPr>
        <p:spPr bwMode="auto">
          <a:xfrm>
            <a:off x="-987425" y="998538"/>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8680" name="AutoShape 8" descr="Creative Thank You Presentation Template - SlideKit"/>
          <p:cNvSpPr>
            <a:spLocks noChangeAspect="1" noChangeArrowheads="1"/>
          </p:cNvSpPr>
          <p:nvPr/>
        </p:nvSpPr>
        <p:spPr bwMode="auto">
          <a:xfrm>
            <a:off x="-987425" y="998538"/>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8682" name="Picture 10" descr="Thank You Slide Images - Free Download on Freepik"/>
          <p:cNvPicPr>
            <a:picLocks noChangeAspect="1" noChangeArrowheads="1"/>
          </p:cNvPicPr>
          <p:nvPr/>
        </p:nvPicPr>
        <p:blipFill>
          <a:blip r:embed="rId2"/>
          <a:srcRect/>
          <a:stretch>
            <a:fillRect/>
          </a:stretch>
        </p:blipFill>
        <p:spPr bwMode="auto">
          <a:xfrm>
            <a:off x="-1143000" y="1143000"/>
            <a:ext cx="9222832" cy="68580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1638</TotalTime>
  <Words>3343</Words>
  <Application>Microsoft Office PowerPoint</Application>
  <PresentationFormat>On-screen Show (4:3)</PresentationFormat>
  <Paragraphs>258</Paragraphs>
  <Slides>26</Slides>
  <Notes>3</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PIMS</dc:creator>
  <cp:lastModifiedBy>Shashi Gupta</cp:lastModifiedBy>
  <cp:revision>46</cp:revision>
  <dcterms:created xsi:type="dcterms:W3CDTF">2024-03-19T17:01:35Z</dcterms:created>
  <dcterms:modified xsi:type="dcterms:W3CDTF">2026-09-08T05:53:40Z</dcterms:modified>
</cp:coreProperties>
</file>